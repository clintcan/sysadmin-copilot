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901E3D-7B9A-4D83-9C49-20265CE32A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26623A-DF73-423D-AABF-F9E3951C82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5F2551B-FABC-4DB7-B9E5-E2D93C1FE2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AE9972B-9EBA-4B2C-A417-D126F1965F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180E4BE-2BD0-4191-975A-DBF7D0DC7A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56E126B-2332-44FB-B11E-2F4FAB5D7D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F8C06AA-18C8-4A99-877F-0BACE6533F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DECAB26-7ABD-4E22-B52A-5758B62952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12697F7-CBDB-4E43-B675-EC921515F2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F594355-C6B9-4E2F-8BE1-61DC1CE079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43B6A31-57BA-4673-B8CA-14BBE3186A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6A494C-94CF-4C59-9F4C-A2CCDEF4A6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60F9AB-805C-43A4-A058-0C5C5ABF7B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5A01E8-8F1E-425C-BFEA-AD1DA35D18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1A9AD8-2D77-4F4F-86B6-5EA393556E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A649E8-FF6C-42CD-98CD-7F8BF21000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7A5064-5739-4E7A-A02F-E5F7C49D48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AF8C1F-F656-4E34-B533-9E6F92194CD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9BA1E0-33BE-40C4-AE4C-91334CA7C9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0E70C0-EF6B-4ABC-A919-37D5E7FD4F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C3A995-7473-4D64-83C9-FF859BB1B7D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3E4784-C3D0-4EA1-9273-50008900F4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8" name="Picture 2" descr="tmpvevx70v6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6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1645920"/>
            <a:ext cx="1033236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600" spc="-1" strike="noStrike">
                <a:solidFill>
                  <a:srgbClr val="1a1d2e"/>
                </a:solidFill>
                <a:latin typeface="Calibri"/>
              </a:rPr>
              <a:t>SYSADMIN COPILOT</a:t>
            </a:r>
            <a:endParaRPr b="0" lang="en-PH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2834640"/>
            <a:ext cx="10332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266ef1"/>
                </a:solidFill>
                <a:latin typeface="Calibri"/>
              </a:rPr>
              <a:t>Talk to Your Linux Server in Plain English</a:t>
            </a:r>
            <a:endParaRPr b="0" lang="en-PH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731520" y="374904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914400" y="4114800"/>
            <a:ext cx="1033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An AI Agent Built with LangChain + LangGraph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4114800" y="5029200"/>
            <a:ext cx="3931560" cy="548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$ sysadmin-copilot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What We'll Cover Today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731520" y="1554480"/>
            <a:ext cx="868644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1005840" y="160020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66ef1"/>
                </a:solidFill>
                <a:latin typeface="Calibri"/>
              </a:rPr>
              <a:t>The Problem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3291840" y="160020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Why sysadmin work is hard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9601200" y="1600200"/>
            <a:ext cx="1645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5 min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8"/>
          <p:cNvSpPr/>
          <p:nvPr/>
        </p:nvSpPr>
        <p:spPr>
          <a:xfrm>
            <a:off x="731520" y="2304360"/>
            <a:ext cx="868644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1005840" y="235008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66ef1"/>
                </a:solidFill>
                <a:latin typeface="Calibri"/>
              </a:rPr>
              <a:t>The Solution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3291840" y="235008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An AI agent that runs CLI tools for you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9601200" y="2350080"/>
            <a:ext cx="1645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5 min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ounded Rectangle 12"/>
          <p:cNvSpPr/>
          <p:nvPr/>
        </p:nvSpPr>
        <p:spPr>
          <a:xfrm>
            <a:off x="731520" y="3054240"/>
            <a:ext cx="868644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13"/>
          <p:cNvSpPr/>
          <p:nvPr/>
        </p:nvSpPr>
        <p:spPr>
          <a:xfrm>
            <a:off x="1005840" y="309996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b55e"/>
                </a:solidFill>
                <a:latin typeface="Calibri"/>
              </a:rPr>
              <a:t>Architecture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4"/>
          <p:cNvSpPr/>
          <p:nvPr/>
        </p:nvSpPr>
        <p:spPr>
          <a:xfrm>
            <a:off x="3291840" y="309996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How the pieces fit together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5"/>
          <p:cNvSpPr/>
          <p:nvPr/>
        </p:nvSpPr>
        <p:spPr>
          <a:xfrm>
            <a:off x="9601200" y="3099960"/>
            <a:ext cx="1645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10 min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16"/>
          <p:cNvSpPr/>
          <p:nvPr/>
        </p:nvSpPr>
        <p:spPr>
          <a:xfrm>
            <a:off x="731520" y="3803760"/>
            <a:ext cx="868644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17"/>
          <p:cNvSpPr/>
          <p:nvPr/>
        </p:nvSpPr>
        <p:spPr>
          <a:xfrm>
            <a:off x="1005840" y="384948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b55e"/>
                </a:solidFill>
                <a:latin typeface="Calibri"/>
              </a:rPr>
              <a:t>Deep Dive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8"/>
          <p:cNvSpPr/>
          <p:nvPr/>
        </p:nvSpPr>
        <p:spPr>
          <a:xfrm>
            <a:off x="3291840" y="384948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Agent, Tools, Safety, Audit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9601200" y="3849480"/>
            <a:ext cx="1645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15 min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20"/>
          <p:cNvSpPr/>
          <p:nvPr/>
        </p:nvSpPr>
        <p:spPr>
          <a:xfrm>
            <a:off x="731520" y="4553640"/>
            <a:ext cx="868644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1"/>
          <p:cNvSpPr/>
          <p:nvPr/>
        </p:nvSpPr>
        <p:spPr>
          <a:xfrm>
            <a:off x="1005840" y="459936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56e0f"/>
                </a:solidFill>
                <a:latin typeface="Calibri"/>
              </a:rPr>
              <a:t>Live Demo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22"/>
          <p:cNvSpPr/>
          <p:nvPr/>
        </p:nvSpPr>
        <p:spPr>
          <a:xfrm>
            <a:off x="3291840" y="459936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See it in action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9601200" y="4599360"/>
            <a:ext cx="1645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10 min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ounded Rectangle 24"/>
          <p:cNvSpPr/>
          <p:nvPr/>
        </p:nvSpPr>
        <p:spPr>
          <a:xfrm>
            <a:off x="731520" y="5303520"/>
            <a:ext cx="868644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25"/>
          <p:cNvSpPr/>
          <p:nvPr/>
        </p:nvSpPr>
        <p:spPr>
          <a:xfrm>
            <a:off x="1005840" y="5349240"/>
            <a:ext cx="228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56e0f"/>
                </a:solidFill>
                <a:latin typeface="Calibri"/>
              </a:rPr>
              <a:t>Workshop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26"/>
          <p:cNvSpPr/>
          <p:nvPr/>
        </p:nvSpPr>
        <p:spPr>
          <a:xfrm>
            <a:off x="3291840" y="534924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Build your own plugin tool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27"/>
          <p:cNvSpPr/>
          <p:nvPr/>
        </p:nvSpPr>
        <p:spPr>
          <a:xfrm>
            <a:off x="9601200" y="5349240"/>
            <a:ext cx="1645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15 min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28"/>
          <p:cNvSpPr/>
          <p:nvPr/>
        </p:nvSpPr>
        <p:spPr>
          <a:xfrm>
            <a:off x="731520" y="632772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Total: ~60 minutes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29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The Sysadmin's Daily Struggle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914400" y="1645920"/>
            <a:ext cx="594324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1188720" y="1719000"/>
            <a:ext cx="5486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66ef1"/>
                </a:solidFill>
                <a:latin typeface="Calibri"/>
              </a:rPr>
              <a:t>"What journalctl flags do I need again?"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6"/>
          <p:cNvSpPr/>
          <p:nvPr/>
        </p:nvSpPr>
        <p:spPr>
          <a:xfrm>
            <a:off x="914400" y="2423160"/>
            <a:ext cx="594324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1188720" y="2496240"/>
            <a:ext cx="5486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66ef1"/>
                </a:solidFill>
                <a:latin typeface="Calibri"/>
              </a:rPr>
              <a:t>"Was it ss or netstat? What's the syntax?"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8"/>
          <p:cNvSpPr/>
          <p:nvPr/>
        </p:nvSpPr>
        <p:spPr>
          <a:xfrm>
            <a:off x="914400" y="3200400"/>
            <a:ext cx="594324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1188720" y="3273480"/>
            <a:ext cx="5486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66ef1"/>
                </a:solidFill>
                <a:latin typeface="Calibri"/>
              </a:rPr>
              <a:t>"The server is slow — where do I even start?"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914400" y="4251960"/>
            <a:ext cx="594324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Knowledge takes years to accumulate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Even experts spend time looking up flags and syntax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Picture 11" descr="tmpmtimk1kw.jpg"/>
          <p:cNvPicPr/>
          <p:nvPr/>
        </p:nvPicPr>
        <p:blipFill>
          <a:blip r:embed="rId1"/>
          <a:stretch/>
        </p:blipFill>
        <p:spPr>
          <a:xfrm>
            <a:off x="7498080" y="1371600"/>
            <a:ext cx="4114440" cy="4571640"/>
          </a:xfrm>
          <a:prstGeom prst="rect">
            <a:avLst/>
          </a:prstGeom>
          <a:ln w="0">
            <a:noFill/>
          </a:ln>
        </p:spPr>
      </p:pic>
      <p:sp>
        <p:nvSpPr>
          <p:cNvPr id="116" name="TextBox 12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3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What If You Could Just Ask?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Rounded Rectangle 4"/>
          <p:cNvSpPr/>
          <p:nvPr/>
        </p:nvSpPr>
        <p:spPr>
          <a:xfrm>
            <a:off x="914400" y="1463040"/>
            <a:ext cx="6857640" cy="3474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❯ </a:t>
            </a: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Why is the server running slow?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[check_cpu_and_load]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[check_top_processes]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[check_memory]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The server load average is 4.2 — high for 2 cores.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Top CPU consumer: python3 at 87%.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Memory is fine: 3.1 GB used of 8 GB.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ounded Rectangle 5"/>
          <p:cNvSpPr/>
          <p:nvPr/>
        </p:nvSpPr>
        <p:spPr>
          <a:xfrm>
            <a:off x="8229600" y="1463040"/>
            <a:ext cx="3474360" cy="347436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8503920" y="1737360"/>
            <a:ext cx="2925720" cy="21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266ef1"/>
                </a:solidFill>
                <a:latin typeface="Calibri"/>
              </a:rPr>
              <a:t>The agent: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1. Reasons about your question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2. Picks the right tools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3. Runs them in sequence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4. Explains the results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914400" y="5303520"/>
            <a:ext cx="10515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b55e"/>
                </a:solidFill>
                <a:latin typeface="Calibri"/>
              </a:rPr>
              <a:t>You describe the problem. The AI figures out the commands.</a:t>
            </a:r>
            <a:endParaRPr b="0" lang="en-PH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4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Who Is This For?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ounded Rectangle 4"/>
          <p:cNvSpPr/>
          <p:nvPr/>
        </p:nvSpPr>
        <p:spPr>
          <a:xfrm>
            <a:off x="731520" y="1554480"/>
            <a:ext cx="3382920" cy="32000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Oval 5"/>
          <p:cNvSpPr/>
          <p:nvPr/>
        </p:nvSpPr>
        <p:spPr>
          <a:xfrm>
            <a:off x="1965960" y="1828800"/>
            <a:ext cx="914040" cy="91404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H</a:t>
            </a: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914400" y="2926080"/>
            <a:ext cx="30171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66ef1"/>
                </a:solidFill>
                <a:latin typeface="Calibri"/>
              </a:rPr>
              <a:t>Homelab &amp;</a:t>
            </a:r>
            <a:br>
              <a:rPr sz="2000"/>
            </a:br>
            <a:r>
              <a:rPr b="1" lang="en-US" sz="2000" spc="-1" strike="noStrike">
                <a:solidFill>
                  <a:srgbClr val="266ef1"/>
                </a:solidFill>
                <a:latin typeface="Calibri"/>
              </a:rPr>
              <a:t>Self-Hosters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914400" y="3657600"/>
            <a:ext cx="3017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Manage servers without being a full-time sysadmin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ounded Rectangle 8"/>
          <p:cNvSpPr/>
          <p:nvPr/>
        </p:nvSpPr>
        <p:spPr>
          <a:xfrm>
            <a:off x="4389120" y="1554480"/>
            <a:ext cx="3382920" cy="32000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Oval 9"/>
          <p:cNvSpPr/>
          <p:nvPr/>
        </p:nvSpPr>
        <p:spPr>
          <a:xfrm>
            <a:off x="5623560" y="1828800"/>
            <a:ext cx="914040" cy="91404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D</a:t>
            </a: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4572000" y="2926080"/>
            <a:ext cx="3017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b55e"/>
                </a:solidFill>
                <a:latin typeface="Calibri"/>
              </a:rPr>
              <a:t>Developers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1"/>
          <p:cNvSpPr/>
          <p:nvPr/>
        </p:nvSpPr>
        <p:spPr>
          <a:xfrm>
            <a:off x="4572000" y="3657600"/>
            <a:ext cx="3017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Investigate production issues without Linux tool expertise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12"/>
          <p:cNvSpPr/>
          <p:nvPr/>
        </p:nvSpPr>
        <p:spPr>
          <a:xfrm>
            <a:off x="8046720" y="1554480"/>
            <a:ext cx="3382920" cy="32000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Oval 13"/>
          <p:cNvSpPr/>
          <p:nvPr/>
        </p:nvSpPr>
        <p:spPr>
          <a:xfrm>
            <a:off x="9281160" y="1828800"/>
            <a:ext cx="914040" cy="914040"/>
          </a:xfrm>
          <a:prstGeom prst="ellipse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S</a:t>
            </a: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14"/>
          <p:cNvSpPr/>
          <p:nvPr/>
        </p:nvSpPr>
        <p:spPr>
          <a:xfrm>
            <a:off x="8229600" y="2926080"/>
            <a:ext cx="3017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56e0f"/>
                </a:solidFill>
                <a:latin typeface="Calibri"/>
              </a:rPr>
              <a:t>Sysadmins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5"/>
          <p:cNvSpPr/>
          <p:nvPr/>
        </p:nvSpPr>
        <p:spPr>
          <a:xfrm>
            <a:off x="8229600" y="3657600"/>
            <a:ext cx="3017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Faster first-pass investigation with built-in audit trail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6"/>
          <p:cNvSpPr/>
          <p:nvPr/>
        </p:nvSpPr>
        <p:spPr>
          <a:xfrm>
            <a:off x="731520" y="52120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Targets Linux with systemd  (journalctl, systemctl, ss, dig, free ...)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5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Feature Highlights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ounded Rectangle 4"/>
          <p:cNvSpPr/>
          <p:nvPr/>
        </p:nvSpPr>
        <p:spPr>
          <a:xfrm>
            <a:off x="548640" y="1463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Oval 5"/>
          <p:cNvSpPr/>
          <p:nvPr/>
        </p:nvSpPr>
        <p:spPr>
          <a:xfrm>
            <a:off x="1554480" y="1691640"/>
            <a:ext cx="639720" cy="63972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NL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685800" y="2514600"/>
            <a:ext cx="237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Natural Language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Interface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7"/>
          <p:cNvSpPr/>
          <p:nvPr/>
        </p:nvSpPr>
        <p:spPr>
          <a:xfrm>
            <a:off x="3429000" y="1463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Oval 8"/>
          <p:cNvSpPr/>
          <p:nvPr/>
        </p:nvSpPr>
        <p:spPr>
          <a:xfrm>
            <a:off x="4434840" y="1691640"/>
            <a:ext cx="639720" cy="63972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RA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9"/>
          <p:cNvSpPr/>
          <p:nvPr/>
        </p:nvSpPr>
        <p:spPr>
          <a:xfrm>
            <a:off x="3566160" y="2514600"/>
            <a:ext cx="237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ReAct Agent Loop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(Reason + Act)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ounded Rectangle 10"/>
          <p:cNvSpPr/>
          <p:nvPr/>
        </p:nvSpPr>
        <p:spPr>
          <a:xfrm>
            <a:off x="6309360" y="1463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Oval 11"/>
          <p:cNvSpPr/>
          <p:nvPr/>
        </p:nvSpPr>
        <p:spPr>
          <a:xfrm>
            <a:off x="7315200" y="1691640"/>
            <a:ext cx="639720" cy="63972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MT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12"/>
          <p:cNvSpPr/>
          <p:nvPr/>
        </p:nvSpPr>
        <p:spPr>
          <a:xfrm>
            <a:off x="6446520" y="2514600"/>
            <a:ext cx="237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Multi-turn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Conversation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13"/>
          <p:cNvSpPr/>
          <p:nvPr/>
        </p:nvSpPr>
        <p:spPr>
          <a:xfrm>
            <a:off x="9189720" y="1463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Oval 14"/>
          <p:cNvSpPr/>
          <p:nvPr/>
        </p:nvSpPr>
        <p:spPr>
          <a:xfrm>
            <a:off x="10195560" y="1691640"/>
            <a:ext cx="639720" cy="639720"/>
          </a:xfrm>
          <a:prstGeom prst="ellipse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RWB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Box 15"/>
          <p:cNvSpPr/>
          <p:nvPr/>
        </p:nvSpPr>
        <p:spPr>
          <a:xfrm>
            <a:off x="9326880" y="2514600"/>
            <a:ext cx="237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Three-tier Safety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READ / WRITE / BLOCKED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ounded Rectangle 16"/>
          <p:cNvSpPr/>
          <p:nvPr/>
        </p:nvSpPr>
        <p:spPr>
          <a:xfrm>
            <a:off x="548640" y="3749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Oval 17"/>
          <p:cNvSpPr/>
          <p:nvPr/>
        </p:nvSpPr>
        <p:spPr>
          <a:xfrm>
            <a:off x="1554480" y="3977640"/>
            <a:ext cx="639720" cy="63972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LOG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18"/>
          <p:cNvSpPr/>
          <p:nvPr/>
        </p:nvSpPr>
        <p:spPr>
          <a:xfrm>
            <a:off x="685800" y="4800600"/>
            <a:ext cx="237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Full Audit Trail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(JSONL)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19"/>
          <p:cNvSpPr/>
          <p:nvPr/>
        </p:nvSpPr>
        <p:spPr>
          <a:xfrm>
            <a:off x="3429000" y="3749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Oval 20"/>
          <p:cNvSpPr/>
          <p:nvPr/>
        </p:nvSpPr>
        <p:spPr>
          <a:xfrm>
            <a:off x="4434840" y="3977640"/>
            <a:ext cx="639720" cy="63972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LLM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21"/>
          <p:cNvSpPr/>
          <p:nvPr/>
        </p:nvSpPr>
        <p:spPr>
          <a:xfrm>
            <a:off x="3566160" y="4800600"/>
            <a:ext cx="23770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Multiple Backends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Ollama / OpenAI / Anthropic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ounded Rectangle 22"/>
          <p:cNvSpPr/>
          <p:nvPr/>
        </p:nvSpPr>
        <p:spPr>
          <a:xfrm>
            <a:off x="6309360" y="3749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Oval 23"/>
          <p:cNvSpPr/>
          <p:nvPr/>
        </p:nvSpPr>
        <p:spPr>
          <a:xfrm>
            <a:off x="7315200" y="3977640"/>
            <a:ext cx="639720" cy="639720"/>
          </a:xfrm>
          <a:prstGeom prst="ellipse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PLG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Box 24"/>
          <p:cNvSpPr/>
          <p:nvPr/>
        </p:nvSpPr>
        <p:spPr>
          <a:xfrm>
            <a:off x="6446520" y="4800600"/>
            <a:ext cx="237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Plugin System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tools_extra/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25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6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Architecture: The Big Picture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ounded Rectangle 4"/>
          <p:cNvSpPr/>
          <p:nvPr/>
        </p:nvSpPr>
        <p:spPr>
          <a:xfrm>
            <a:off x="457200" y="2286000"/>
            <a:ext cx="2194200" cy="164556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548640" y="242316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66ef1"/>
                </a:solidFill>
                <a:latin typeface="Calibri"/>
              </a:rPr>
              <a:t>agent.py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6"/>
          <p:cNvSpPr/>
          <p:nvPr/>
        </p:nvSpPr>
        <p:spPr>
          <a:xfrm>
            <a:off x="548640" y="2880360"/>
            <a:ext cx="201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Entry Point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REPL Loop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7"/>
          <p:cNvSpPr/>
          <p:nvPr/>
        </p:nvSpPr>
        <p:spPr>
          <a:xfrm>
            <a:off x="3108960" y="2286000"/>
            <a:ext cx="2194200" cy="164556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8"/>
          <p:cNvSpPr/>
          <p:nvPr/>
        </p:nvSpPr>
        <p:spPr>
          <a:xfrm>
            <a:off x="3200400" y="242316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b55e"/>
                </a:solidFill>
                <a:latin typeface="Calibri"/>
              </a:rPr>
              <a:t>LangGraph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3200400" y="2880360"/>
            <a:ext cx="201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Reason → Act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→ Reason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ounded Rectangle 10"/>
          <p:cNvSpPr/>
          <p:nvPr/>
        </p:nvSpPr>
        <p:spPr>
          <a:xfrm>
            <a:off x="5760720" y="2286000"/>
            <a:ext cx="2194200" cy="164556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11"/>
          <p:cNvSpPr/>
          <p:nvPr/>
        </p:nvSpPr>
        <p:spPr>
          <a:xfrm>
            <a:off x="5852160" y="242316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56e0f"/>
                </a:solidFill>
                <a:latin typeface="Calibri"/>
              </a:rPr>
              <a:t>safety.py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2"/>
          <p:cNvSpPr/>
          <p:nvPr/>
        </p:nvSpPr>
        <p:spPr>
          <a:xfrm>
            <a:off x="5852160" y="2880360"/>
            <a:ext cx="201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Permission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Gates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13"/>
          <p:cNvSpPr/>
          <p:nvPr/>
        </p:nvSpPr>
        <p:spPr>
          <a:xfrm>
            <a:off x="8412480" y="1828800"/>
            <a:ext cx="2194200" cy="118836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14"/>
          <p:cNvSpPr/>
          <p:nvPr/>
        </p:nvSpPr>
        <p:spPr>
          <a:xfrm>
            <a:off x="8503920" y="196596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66ef1"/>
                </a:solidFill>
                <a:latin typeface="Calibri"/>
              </a:rPr>
              <a:t>tools.py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15"/>
          <p:cNvSpPr/>
          <p:nvPr/>
        </p:nvSpPr>
        <p:spPr>
          <a:xfrm>
            <a:off x="8503920" y="2423160"/>
            <a:ext cx="2011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27 CLI Tools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16"/>
          <p:cNvSpPr/>
          <p:nvPr/>
        </p:nvSpPr>
        <p:spPr>
          <a:xfrm>
            <a:off x="8412480" y="3291840"/>
            <a:ext cx="2194200" cy="118836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7"/>
          <p:cNvSpPr/>
          <p:nvPr/>
        </p:nvSpPr>
        <p:spPr>
          <a:xfrm>
            <a:off x="8503920" y="3429000"/>
            <a:ext cx="201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b55e"/>
                </a:solidFill>
                <a:latin typeface="Calibri"/>
              </a:rPr>
              <a:t>audit.py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8"/>
          <p:cNvSpPr/>
          <p:nvPr/>
        </p:nvSpPr>
        <p:spPr>
          <a:xfrm>
            <a:off x="8503920" y="3886200"/>
            <a:ext cx="201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Every Call</a:t>
            </a:r>
            <a:br>
              <a:rPr sz="1400"/>
            </a:b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Logged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ight Arrow 19"/>
          <p:cNvSpPr/>
          <p:nvPr/>
        </p:nvSpPr>
        <p:spPr>
          <a:xfrm>
            <a:off x="2651760" y="2880360"/>
            <a:ext cx="4568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0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Right Arrow 20"/>
          <p:cNvSpPr/>
          <p:nvPr/>
        </p:nvSpPr>
        <p:spPr>
          <a:xfrm>
            <a:off x="5303520" y="2880360"/>
            <a:ext cx="4568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0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ight Arrow 21"/>
          <p:cNvSpPr/>
          <p:nvPr/>
        </p:nvSpPr>
        <p:spPr>
          <a:xfrm>
            <a:off x="7955280" y="2880360"/>
            <a:ext cx="4568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0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Right Arrow 22"/>
          <p:cNvSpPr/>
          <p:nvPr/>
        </p:nvSpPr>
        <p:spPr>
          <a:xfrm>
            <a:off x="7955280" y="3520440"/>
            <a:ext cx="4568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0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23"/>
          <p:cNvSpPr/>
          <p:nvPr/>
        </p:nvSpPr>
        <p:spPr>
          <a:xfrm>
            <a:off x="457200" y="475488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7a808c"/>
                </a:solidFill>
                <a:latin typeface="Calibri"/>
              </a:rPr>
              <a:t>Four modules, four responsibilities. Each does one thing well.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24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7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a1d2e"/>
                </a:solidFill>
                <a:latin typeface="Calibri"/>
              </a:rPr>
              <a:t>What Happens When You Ask a Question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Oval 4"/>
          <p:cNvSpPr/>
          <p:nvPr/>
        </p:nvSpPr>
        <p:spPr>
          <a:xfrm>
            <a:off x="914400" y="1371600"/>
            <a:ext cx="456840" cy="45684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1554480" y="138996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User types: "Check if nginx is running"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Oval 6"/>
          <p:cNvSpPr/>
          <p:nvPr/>
        </p:nvSpPr>
        <p:spPr>
          <a:xfrm>
            <a:off x="914400" y="1993320"/>
            <a:ext cx="456840" cy="456840"/>
          </a:xfrm>
          <a:prstGeom prst="ellipse">
            <a:avLst/>
          </a:prstGeom>
          <a:solidFill>
            <a:srgbClr val="3a3f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7"/>
          <p:cNvSpPr/>
          <p:nvPr/>
        </p:nvSpPr>
        <p:spPr>
          <a:xfrm>
            <a:off x="1554480" y="201168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Message appended to conversation history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Oval 8"/>
          <p:cNvSpPr/>
          <p:nvPr/>
        </p:nvSpPr>
        <p:spPr>
          <a:xfrm>
            <a:off x="914400" y="2615040"/>
            <a:ext cx="456840" cy="45684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Box 9"/>
          <p:cNvSpPr/>
          <p:nvPr/>
        </p:nvSpPr>
        <p:spPr>
          <a:xfrm>
            <a:off x="1554480" y="263340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LLM reasons: "I should call check_service_status"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Oval 10"/>
          <p:cNvSpPr/>
          <p:nvPr/>
        </p:nvSpPr>
        <p:spPr>
          <a:xfrm>
            <a:off x="914400" y="3237120"/>
            <a:ext cx="456840" cy="456840"/>
          </a:xfrm>
          <a:prstGeom prst="ellipse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11"/>
          <p:cNvSpPr/>
          <p:nvPr/>
        </p:nvSpPr>
        <p:spPr>
          <a:xfrm>
            <a:off x="1554480" y="325512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Safety layer checks for blocked patterns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Oval 12"/>
          <p:cNvSpPr/>
          <p:nvPr/>
        </p:nvSpPr>
        <p:spPr>
          <a:xfrm>
            <a:off x="914400" y="3858840"/>
            <a:ext cx="456840" cy="45684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Box 13"/>
          <p:cNvSpPr/>
          <p:nvPr/>
        </p:nvSpPr>
        <p:spPr>
          <a:xfrm>
            <a:off x="1554480" y="387720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Tool runs: systemctl status nginx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Oval 14"/>
          <p:cNvSpPr/>
          <p:nvPr/>
        </p:nvSpPr>
        <p:spPr>
          <a:xfrm>
            <a:off x="914400" y="4480560"/>
            <a:ext cx="456840" cy="456840"/>
          </a:xfrm>
          <a:prstGeom prst="ellipse">
            <a:avLst/>
          </a:prstGeom>
          <a:solidFill>
            <a:srgbClr val="3a3f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Box 15"/>
          <p:cNvSpPr/>
          <p:nvPr/>
        </p:nvSpPr>
        <p:spPr>
          <a:xfrm>
            <a:off x="1554480" y="449892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Output returned to LLM (capped at 8000 chars)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Oval 16"/>
          <p:cNvSpPr/>
          <p:nvPr/>
        </p:nvSpPr>
        <p:spPr>
          <a:xfrm>
            <a:off x="914400" y="5102280"/>
            <a:ext cx="456840" cy="45684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17"/>
          <p:cNvSpPr/>
          <p:nvPr/>
        </p:nvSpPr>
        <p:spPr>
          <a:xfrm>
            <a:off x="1554480" y="512064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LLM generates a plain-English answer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Oval 18"/>
          <p:cNvSpPr/>
          <p:nvPr/>
        </p:nvSpPr>
        <p:spPr>
          <a:xfrm>
            <a:off x="914400" y="5724000"/>
            <a:ext cx="456840" cy="45684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9"/>
          <p:cNvSpPr/>
          <p:nvPr/>
        </p:nvSpPr>
        <p:spPr>
          <a:xfrm>
            <a:off x="1554480" y="574236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Answer streamed token-by-token to terminal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20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8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The Agent: ReAct Pattern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731520" y="1463040"/>
            <a:ext cx="5028840" cy="27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266ef1"/>
                </a:solidFill>
                <a:latin typeface="Calibri"/>
              </a:rPr>
              <a:t>ReAct = Reason + Act</a:t>
            </a:r>
            <a:endParaRPr b="0" lang="en-PH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pc="-1" strike="noStrike">
                <a:solidFill>
                  <a:srgbClr val="0fb55e"/>
                </a:solidFill>
                <a:latin typeface="Calibri"/>
              </a:rPr>
              <a:t>Thought → Action → Observation → Thought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Built on LangChain's create_agent + LangGraph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System prompt includes hostname, OS, time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Anti-hallucination directives for weaker models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7a808c"/>
                </a:solidFill>
                <a:latin typeface="Calibri"/>
              </a:rPr>
              <a:t>"Only report info from tool output"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pc="-1" strike="noStrike">
                <a:solidFill>
                  <a:srgbClr val="7a808c"/>
                </a:solidFill>
                <a:latin typeface="Calibri"/>
              </a:rPr>
              <a:t>"Prefer specific tools over run_command"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5"/>
          <p:cNvSpPr/>
          <p:nvPr/>
        </p:nvSpPr>
        <p:spPr>
          <a:xfrm>
            <a:off x="6217920" y="1463040"/>
            <a:ext cx="5303160" cy="32000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llm = get_llm()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wrapped_tools = safety.wrap_tools(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ALL_TOOLS, audit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)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agent = create_agent(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model=llm,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tools=wrapped_tools,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system_prompt=build_system_prompt(),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)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Box 6"/>
          <p:cNvSpPr/>
          <p:nvPr/>
        </p:nvSpPr>
        <p:spPr>
          <a:xfrm>
            <a:off x="6217920" y="4754880"/>
            <a:ext cx="5303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7a808c"/>
                </a:solidFill>
                <a:latin typeface="Calibri"/>
              </a:rPr>
              <a:t>agent.py — three steps to launch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9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Multi-Turn Memory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Rounded Rectangle 4"/>
          <p:cNvSpPr/>
          <p:nvPr/>
        </p:nvSpPr>
        <p:spPr>
          <a:xfrm>
            <a:off x="914400" y="1463040"/>
            <a:ext cx="6400440" cy="4114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❯ </a:t>
            </a: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Show failed SSH logins in the last hour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[query_journal_logs]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Found 23 failed attempts from 185.220.101.47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❯ Is that IP doing anything else?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[check_network_connections]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No active connections from that IP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❯ Restart fail2ban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⚠  Allow this action? [y/N]: y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[restart_service]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fail2ban restarted and active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Rounded Rectangle 5"/>
          <p:cNvSpPr/>
          <p:nvPr/>
        </p:nvSpPr>
        <p:spPr>
          <a:xfrm>
            <a:off x="7772400" y="1463040"/>
            <a:ext cx="3931560" cy="41144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6"/>
          <p:cNvSpPr/>
          <p:nvPr/>
        </p:nvSpPr>
        <p:spPr>
          <a:xfrm>
            <a:off x="8046720" y="1737360"/>
            <a:ext cx="3382920" cy="29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266ef1"/>
                </a:solidFill>
                <a:latin typeface="Calibri"/>
              </a:rPr>
              <a:t>Key insight: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"that IP" just works — context carries across turns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Three different tools were called automatically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1700" spc="-1" strike="noStrike">
                <a:solidFill>
                  <a:srgbClr val="f56e0f"/>
                </a:solidFill>
                <a:latin typeface="Calibri"/>
              </a:rPr>
              <a:t>Service restart required explicit y/N confirmation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7a808c"/>
                </a:solidFill>
                <a:latin typeface="Calibri"/>
              </a:rPr>
              <a:t>Type "new" to reset history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10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27 Tools in 7 Categories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Rounded Rectangle 4"/>
          <p:cNvSpPr/>
          <p:nvPr/>
        </p:nvSpPr>
        <p:spPr>
          <a:xfrm>
            <a:off x="731520" y="1463040"/>
            <a:ext cx="5211720" cy="6854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5"/>
          <p:cNvSpPr/>
          <p:nvPr/>
        </p:nvSpPr>
        <p:spPr>
          <a:xfrm>
            <a:off x="868680" y="1508760"/>
            <a:ext cx="1828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66ef1"/>
                </a:solidFill>
                <a:latin typeface="Calibri"/>
              </a:rPr>
              <a:t>Logs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6"/>
          <p:cNvSpPr/>
          <p:nvPr/>
        </p:nvSpPr>
        <p:spPr>
          <a:xfrm>
            <a:off x="2743200" y="150876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journal, log files, dmesg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ounded Rectangle 7"/>
          <p:cNvSpPr/>
          <p:nvPr/>
        </p:nvSpPr>
        <p:spPr>
          <a:xfrm>
            <a:off x="731520" y="2286000"/>
            <a:ext cx="5211720" cy="6854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8"/>
          <p:cNvSpPr/>
          <p:nvPr/>
        </p:nvSpPr>
        <p:spPr>
          <a:xfrm>
            <a:off x="868680" y="2331720"/>
            <a:ext cx="1828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b55e"/>
                </a:solidFill>
                <a:latin typeface="Calibri"/>
              </a:rPr>
              <a:t>System Health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9"/>
          <p:cNvSpPr/>
          <p:nvPr/>
        </p:nvSpPr>
        <p:spPr>
          <a:xfrm>
            <a:off x="2743200" y="233172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disk, memory, CPU, processes, zombies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ounded Rectangle 10"/>
          <p:cNvSpPr/>
          <p:nvPr/>
        </p:nvSpPr>
        <p:spPr>
          <a:xfrm>
            <a:off x="731520" y="3108960"/>
            <a:ext cx="5211720" cy="6854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11"/>
          <p:cNvSpPr/>
          <p:nvPr/>
        </p:nvSpPr>
        <p:spPr>
          <a:xfrm>
            <a:off x="868680" y="3154680"/>
            <a:ext cx="1828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56e0f"/>
                </a:solidFill>
                <a:latin typeface="Calibri"/>
              </a:rPr>
              <a:t>Services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12"/>
          <p:cNvSpPr/>
          <p:nvPr/>
        </p:nvSpPr>
        <p:spPr>
          <a:xfrm>
            <a:off x="2743200" y="315468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status, failed, restart, stop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ounded Rectangle 13"/>
          <p:cNvSpPr/>
          <p:nvPr/>
        </p:nvSpPr>
        <p:spPr>
          <a:xfrm>
            <a:off x="731520" y="3931920"/>
            <a:ext cx="5211720" cy="6854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14"/>
          <p:cNvSpPr/>
          <p:nvPr/>
        </p:nvSpPr>
        <p:spPr>
          <a:xfrm>
            <a:off x="868680" y="3977640"/>
            <a:ext cx="1828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66ef1"/>
                </a:solidFill>
                <a:latin typeface="Calibri"/>
              </a:rPr>
              <a:t>Network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5"/>
          <p:cNvSpPr/>
          <p:nvPr/>
        </p:nvSpPr>
        <p:spPr>
          <a:xfrm>
            <a:off x="2743200" y="397764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ports, connections, ping, DNS, URL health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ounded Rectangle 16"/>
          <p:cNvSpPr/>
          <p:nvPr/>
        </p:nvSpPr>
        <p:spPr>
          <a:xfrm>
            <a:off x="6217920" y="1463040"/>
            <a:ext cx="5211720" cy="6854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17"/>
          <p:cNvSpPr/>
          <p:nvPr/>
        </p:nvSpPr>
        <p:spPr>
          <a:xfrm>
            <a:off x="6355080" y="1508760"/>
            <a:ext cx="1828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b55e"/>
                </a:solidFill>
                <a:latin typeface="Calibri"/>
              </a:rPr>
              <a:t>Users &amp; Files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18"/>
          <p:cNvSpPr/>
          <p:nvPr/>
        </p:nvSpPr>
        <p:spPr>
          <a:xfrm>
            <a:off x="8229600" y="150876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logged-in users, cron jobs, recent files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19"/>
          <p:cNvSpPr/>
          <p:nvPr/>
        </p:nvSpPr>
        <p:spPr>
          <a:xfrm>
            <a:off x="6217920" y="2286000"/>
            <a:ext cx="5211720" cy="6854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20"/>
          <p:cNvSpPr/>
          <p:nvPr/>
        </p:nvSpPr>
        <p:spPr>
          <a:xfrm>
            <a:off x="6355080" y="2331720"/>
            <a:ext cx="1828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56e0f"/>
                </a:solidFill>
                <a:latin typeface="Calibri"/>
              </a:rPr>
              <a:t>Security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21"/>
          <p:cNvSpPr/>
          <p:nvPr/>
        </p:nvSpPr>
        <p:spPr>
          <a:xfrm>
            <a:off x="8229600" y="233172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system audit, outdated packages, updates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ounded Rectangle 22"/>
          <p:cNvSpPr/>
          <p:nvPr/>
        </p:nvSpPr>
        <p:spPr>
          <a:xfrm>
            <a:off x="6217920" y="3108960"/>
            <a:ext cx="5211720" cy="6854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23"/>
          <p:cNvSpPr/>
          <p:nvPr/>
        </p:nvSpPr>
        <p:spPr>
          <a:xfrm>
            <a:off x="6355080" y="3154680"/>
            <a:ext cx="1828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7a808c"/>
                </a:solidFill>
                <a:latin typeface="Calibri"/>
              </a:rPr>
              <a:t>General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24"/>
          <p:cNvSpPr/>
          <p:nvPr/>
        </p:nvSpPr>
        <p:spPr>
          <a:xfrm>
            <a:off x="8229600" y="315468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run_command, change_directory, web search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25"/>
          <p:cNvSpPr/>
          <p:nvPr/>
        </p:nvSpPr>
        <p:spPr>
          <a:xfrm>
            <a:off x="731520" y="493776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Each tool is a @tool-decorated function with a docstring the LLM reads to decide when to use it.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26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11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run_cmd(): The Engine Room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Rounded Rectangle 4"/>
          <p:cNvSpPr/>
          <p:nvPr/>
        </p:nvSpPr>
        <p:spPr>
          <a:xfrm>
            <a:off x="731520" y="1463040"/>
            <a:ext cx="56689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5"/>
          <p:cNvSpPr/>
          <p:nvPr/>
        </p:nvSpPr>
        <p:spPr>
          <a:xfrm>
            <a:off x="1005840" y="1508760"/>
            <a:ext cx="5486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b55e"/>
                </a:solidFill>
                <a:latin typeface="Calibri"/>
              </a:rPr>
              <a:t>List-based subprocess.run()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6"/>
          <p:cNvSpPr/>
          <p:nvPr/>
        </p:nvSpPr>
        <p:spPr>
          <a:xfrm>
            <a:off x="1005840" y="178308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alibri"/>
              </a:rPr>
              <a:t>No shell injection — args go directly to the kernel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7"/>
          <p:cNvSpPr/>
          <p:nvPr/>
        </p:nvSpPr>
        <p:spPr>
          <a:xfrm>
            <a:off x="731520" y="2240280"/>
            <a:ext cx="56689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8"/>
          <p:cNvSpPr/>
          <p:nvPr/>
        </p:nvSpPr>
        <p:spPr>
          <a:xfrm>
            <a:off x="1005840" y="2286000"/>
            <a:ext cx="5486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3a3f4c"/>
                </a:solidFill>
                <a:latin typeface="Calibri"/>
              </a:rPr>
              <a:t>capture_output=True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9"/>
          <p:cNvSpPr/>
          <p:nvPr/>
        </p:nvSpPr>
        <p:spPr>
          <a:xfrm>
            <a:off x="1005840" y="256032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alibri"/>
              </a:rPr>
              <a:t>Captures both stdout and stderr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ounded Rectangle 10"/>
          <p:cNvSpPr/>
          <p:nvPr/>
        </p:nvSpPr>
        <p:spPr>
          <a:xfrm>
            <a:off x="731520" y="3017520"/>
            <a:ext cx="56689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TextBox 11"/>
          <p:cNvSpPr/>
          <p:nvPr/>
        </p:nvSpPr>
        <p:spPr>
          <a:xfrm>
            <a:off x="1005840" y="3063240"/>
            <a:ext cx="5486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56e0f"/>
                </a:solidFill>
                <a:latin typeface="Calibri"/>
              </a:rPr>
              <a:t>30-second timeout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12"/>
          <p:cNvSpPr/>
          <p:nvPr/>
        </p:nvSpPr>
        <p:spPr>
          <a:xfrm>
            <a:off x="1005840" y="333756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alibri"/>
              </a:rPr>
              <a:t>No hanging on slow commands like ping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ounded Rectangle 13"/>
          <p:cNvSpPr/>
          <p:nvPr/>
        </p:nvSpPr>
        <p:spPr>
          <a:xfrm>
            <a:off x="731520" y="3794760"/>
            <a:ext cx="56689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14"/>
          <p:cNvSpPr/>
          <p:nvPr/>
        </p:nvSpPr>
        <p:spPr>
          <a:xfrm>
            <a:off x="1005840" y="3840480"/>
            <a:ext cx="5486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66ef1"/>
                </a:solidFill>
                <a:latin typeface="Calibri"/>
              </a:rPr>
              <a:t>8000 char output cap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15"/>
          <p:cNvSpPr/>
          <p:nvPr/>
        </p:nvSpPr>
        <p:spPr>
          <a:xfrm>
            <a:off x="1005840" y="411480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alibri"/>
              </a:rPr>
              <a:t>Protects the LLM's context window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ounded Rectangle 16"/>
          <p:cNvSpPr/>
          <p:nvPr/>
        </p:nvSpPr>
        <p:spPr>
          <a:xfrm>
            <a:off x="731520" y="4572000"/>
            <a:ext cx="56689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17"/>
          <p:cNvSpPr/>
          <p:nvPr/>
        </p:nvSpPr>
        <p:spPr>
          <a:xfrm>
            <a:off x="1005840" y="4617720"/>
            <a:ext cx="5486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3a3f4c"/>
                </a:solidFill>
                <a:latin typeface="Calibri"/>
              </a:rPr>
              <a:t>Graceful error handling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18"/>
          <p:cNvSpPr/>
          <p:nvPr/>
        </p:nvSpPr>
        <p:spPr>
          <a:xfrm>
            <a:off x="1005840" y="489204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alibri"/>
              </a:rPr>
              <a:t>Timeouts, missing commands, permission errors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ounded Rectangle 19"/>
          <p:cNvSpPr/>
          <p:nvPr/>
        </p:nvSpPr>
        <p:spPr>
          <a:xfrm>
            <a:off x="6858000" y="1463040"/>
            <a:ext cx="4754520" cy="32000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def run_cmd(cmd: list[str],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    timeout: int = 30) -&gt; str: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result = subprocess.run(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cmd,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capture_output=True,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text=True,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timeout=timeout,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# truncate if &gt; MAX_OUTPUT_CHARS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# append stderr on failure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return output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Box 20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12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Three-Tier Safety Model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Rectangle 4"/>
          <p:cNvSpPr/>
          <p:nvPr/>
        </p:nvSpPr>
        <p:spPr>
          <a:xfrm>
            <a:off x="731520" y="1463040"/>
            <a:ext cx="136800" cy="1005480"/>
          </a:xfrm>
          <a:prstGeom prst="rect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ounded Rectangle 5"/>
          <p:cNvSpPr/>
          <p:nvPr/>
        </p:nvSpPr>
        <p:spPr>
          <a:xfrm>
            <a:off x="1005840" y="1463040"/>
            <a:ext cx="10423800" cy="10054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6"/>
          <p:cNvSpPr/>
          <p:nvPr/>
        </p:nvSpPr>
        <p:spPr>
          <a:xfrm>
            <a:off x="1280160" y="1508760"/>
            <a:ext cx="2285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fb55e"/>
                </a:solidFill>
                <a:latin typeface="Calibri"/>
              </a:rPr>
              <a:t>READ</a:t>
            </a:r>
            <a:endParaRPr b="0" lang="en-PH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7"/>
          <p:cNvSpPr/>
          <p:nvPr/>
        </p:nvSpPr>
        <p:spPr>
          <a:xfrm>
            <a:off x="1280160" y="1965960"/>
            <a:ext cx="2285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Always allowed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8"/>
          <p:cNvSpPr/>
          <p:nvPr/>
        </p:nvSpPr>
        <p:spPr>
          <a:xfrm>
            <a:off x="3840480" y="1691640"/>
            <a:ext cx="7314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7a808c"/>
                </a:solidFill>
                <a:latin typeface="Calibri"/>
              </a:rPr>
              <a:t>Log queries, status checks, disk info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ectangle 9"/>
          <p:cNvSpPr/>
          <p:nvPr/>
        </p:nvSpPr>
        <p:spPr>
          <a:xfrm>
            <a:off x="731520" y="2743200"/>
            <a:ext cx="136800" cy="100548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Rounded Rectangle 10"/>
          <p:cNvSpPr/>
          <p:nvPr/>
        </p:nvSpPr>
        <p:spPr>
          <a:xfrm>
            <a:off x="1005840" y="2743200"/>
            <a:ext cx="10423800" cy="10054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11"/>
          <p:cNvSpPr/>
          <p:nvPr/>
        </p:nvSpPr>
        <p:spPr>
          <a:xfrm>
            <a:off x="1280160" y="2788920"/>
            <a:ext cx="2285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56e0f"/>
                </a:solidFill>
                <a:latin typeface="Calibri"/>
              </a:rPr>
              <a:t>WRITE</a:t>
            </a:r>
            <a:endParaRPr b="0" lang="en-PH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12"/>
          <p:cNvSpPr/>
          <p:nvPr/>
        </p:nvSpPr>
        <p:spPr>
          <a:xfrm>
            <a:off x="1280160" y="3246120"/>
            <a:ext cx="2285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Confirmation required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13"/>
          <p:cNvSpPr/>
          <p:nvPr/>
        </p:nvSpPr>
        <p:spPr>
          <a:xfrm>
            <a:off x="3840480" y="2971800"/>
            <a:ext cx="7314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7a808c"/>
                </a:solidFill>
                <a:latin typeface="Calibri"/>
              </a:rPr>
              <a:t>restart_service, stop_service, update_packages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ectangle 14"/>
          <p:cNvSpPr/>
          <p:nvPr/>
        </p:nvSpPr>
        <p:spPr>
          <a:xfrm>
            <a:off x="731520" y="4023360"/>
            <a:ext cx="136800" cy="1005480"/>
          </a:xfrm>
          <a:prstGeom prst="rect">
            <a:avLst/>
          </a:prstGeom>
          <a:solidFill>
            <a:srgbClr val="e831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Rounded Rectangle 15"/>
          <p:cNvSpPr/>
          <p:nvPr/>
        </p:nvSpPr>
        <p:spPr>
          <a:xfrm>
            <a:off x="1005840" y="4023360"/>
            <a:ext cx="10423800" cy="10054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TextBox 16"/>
          <p:cNvSpPr/>
          <p:nvPr/>
        </p:nvSpPr>
        <p:spPr>
          <a:xfrm>
            <a:off x="1280160" y="4069080"/>
            <a:ext cx="2285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e83131"/>
                </a:solidFill>
                <a:latin typeface="Calibri"/>
              </a:rPr>
              <a:t>BLOCKED</a:t>
            </a:r>
            <a:endParaRPr b="0" lang="en-PH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17"/>
          <p:cNvSpPr/>
          <p:nvPr/>
        </p:nvSpPr>
        <p:spPr>
          <a:xfrm>
            <a:off x="1280160" y="4526280"/>
            <a:ext cx="2285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Rejected immediately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18"/>
          <p:cNvSpPr/>
          <p:nvPr/>
        </p:nvSpPr>
        <p:spPr>
          <a:xfrm>
            <a:off x="3840480" y="4251960"/>
            <a:ext cx="7314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7a808c"/>
                </a:solidFill>
                <a:latin typeface="Calibri"/>
              </a:rPr>
              <a:t>rm, dd, shutdown, reboot, fork bombs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19"/>
          <p:cNvSpPr/>
          <p:nvPr/>
        </p:nvSpPr>
        <p:spPr>
          <a:xfrm>
            <a:off x="731520" y="5394960"/>
            <a:ext cx="10515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66ef1"/>
                </a:solidFill>
                <a:latin typeface="Calibri"/>
              </a:rPr>
              <a:t>Rules run in Python, not in the prompt — the LLM cannot override them.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20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13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a1d2e"/>
                </a:solidFill>
                <a:latin typeface="Calibri"/>
              </a:rPr>
              <a:t>Defense in Depth: Blocked Patterns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Rounded Rectangle 4"/>
          <p:cNvSpPr/>
          <p:nvPr/>
        </p:nvSpPr>
        <p:spPr>
          <a:xfrm>
            <a:off x="731520" y="1463040"/>
            <a:ext cx="6400440" cy="5482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5"/>
          <p:cNvSpPr/>
          <p:nvPr/>
        </p:nvSpPr>
        <p:spPr>
          <a:xfrm>
            <a:off x="1005840" y="1536120"/>
            <a:ext cx="2011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83131"/>
                </a:solidFill>
                <a:latin typeface="Calibri"/>
              </a:rPr>
              <a:t>File destruction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6"/>
          <p:cNvSpPr/>
          <p:nvPr/>
        </p:nvSpPr>
        <p:spPr>
          <a:xfrm>
            <a:off x="3017520" y="1536120"/>
            <a:ext cx="3931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rm, rmdir, shred, truncate, unlink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ounded Rectangle 7"/>
          <p:cNvSpPr/>
          <p:nvPr/>
        </p:nvSpPr>
        <p:spPr>
          <a:xfrm>
            <a:off x="731520" y="2121480"/>
            <a:ext cx="6400440" cy="5482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8"/>
          <p:cNvSpPr/>
          <p:nvPr/>
        </p:nvSpPr>
        <p:spPr>
          <a:xfrm>
            <a:off x="1005840" y="2194560"/>
            <a:ext cx="2011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83131"/>
                </a:solidFill>
                <a:latin typeface="Calibri"/>
              </a:rPr>
              <a:t>Disk / device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Box 9"/>
          <p:cNvSpPr/>
          <p:nvPr/>
        </p:nvSpPr>
        <p:spPr>
          <a:xfrm>
            <a:off x="3017520" y="2194560"/>
            <a:ext cx="3931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dd, mkfs, &gt; /dev/, tee /dev/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ounded Rectangle 10"/>
          <p:cNvSpPr/>
          <p:nvPr/>
        </p:nvSpPr>
        <p:spPr>
          <a:xfrm>
            <a:off x="731520" y="2779920"/>
            <a:ext cx="6400440" cy="5482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11"/>
          <p:cNvSpPr/>
          <p:nvPr/>
        </p:nvSpPr>
        <p:spPr>
          <a:xfrm>
            <a:off x="1005840" y="2853000"/>
            <a:ext cx="2011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83131"/>
                </a:solidFill>
                <a:latin typeface="Calibri"/>
              </a:rPr>
              <a:t>System state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12"/>
          <p:cNvSpPr/>
          <p:nvPr/>
        </p:nvSpPr>
        <p:spPr>
          <a:xfrm>
            <a:off x="3017520" y="2853000"/>
            <a:ext cx="3931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shutdown, reboot, poweroff, halt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Rounded Rectangle 13"/>
          <p:cNvSpPr/>
          <p:nvPr/>
        </p:nvSpPr>
        <p:spPr>
          <a:xfrm>
            <a:off x="731520" y="3438000"/>
            <a:ext cx="6400440" cy="5482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14"/>
          <p:cNvSpPr/>
          <p:nvPr/>
        </p:nvSpPr>
        <p:spPr>
          <a:xfrm>
            <a:off x="1005840" y="3511440"/>
            <a:ext cx="2011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83131"/>
                </a:solidFill>
                <a:latin typeface="Calibri"/>
              </a:rPr>
              <a:t>Permissions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15"/>
          <p:cNvSpPr/>
          <p:nvPr/>
        </p:nvSpPr>
        <p:spPr>
          <a:xfrm>
            <a:off x="3017520" y="3511440"/>
            <a:ext cx="3931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chmod 777, chmod a+rwx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ounded Rectangle 16"/>
          <p:cNvSpPr/>
          <p:nvPr/>
        </p:nvSpPr>
        <p:spPr>
          <a:xfrm>
            <a:off x="731520" y="4096440"/>
            <a:ext cx="6400440" cy="5482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17"/>
          <p:cNvSpPr/>
          <p:nvPr/>
        </p:nvSpPr>
        <p:spPr>
          <a:xfrm>
            <a:off x="1005840" y="4169520"/>
            <a:ext cx="2011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83131"/>
                </a:solidFill>
                <a:latin typeface="Calibri"/>
              </a:rPr>
              <a:t>Evasion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18"/>
          <p:cNvSpPr/>
          <p:nvPr/>
        </p:nvSpPr>
        <p:spPr>
          <a:xfrm>
            <a:off x="3017520" y="4169520"/>
            <a:ext cx="3931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base64 decode, | bash, | sh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ounded Rectangle 19"/>
          <p:cNvSpPr/>
          <p:nvPr/>
        </p:nvSpPr>
        <p:spPr>
          <a:xfrm>
            <a:off x="7589520" y="1463040"/>
            <a:ext cx="4114440" cy="32000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20"/>
          <p:cNvSpPr/>
          <p:nvPr/>
        </p:nvSpPr>
        <p:spPr>
          <a:xfrm>
            <a:off x="7863840" y="1737360"/>
            <a:ext cx="3565800" cy="26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6e0f"/>
                </a:solidFill>
                <a:latin typeface="Calibri"/>
              </a:rPr>
              <a:t>Normalization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onsolas"/>
              </a:rPr>
              <a:t>lowercase  →  catches RM, Rm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onsolas"/>
              </a:rPr>
              <a:t>collapse whitespace  →  rm\tfile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onsolas"/>
              </a:rPr>
              <a:t>strip quotes  →  "rm" file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7a808c"/>
                </a:solidFill>
                <a:latin typeface="Calibri"/>
              </a:rPr>
              <a:t>Defense-in-depth, not a security boundary.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266ef1"/>
                </a:solidFill>
                <a:latin typeface="Calibri"/>
              </a:rPr>
              <a:t>OS permissions are the real boundary.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21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14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The Real Security Model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Rounded Rectangle 4"/>
          <p:cNvSpPr/>
          <p:nvPr/>
        </p:nvSpPr>
        <p:spPr>
          <a:xfrm>
            <a:off x="731520" y="1554480"/>
            <a:ext cx="10698120" cy="10054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Oval 5"/>
          <p:cNvSpPr/>
          <p:nvPr/>
        </p:nvSpPr>
        <p:spPr>
          <a:xfrm>
            <a:off x="1097280" y="1710000"/>
            <a:ext cx="685440" cy="685440"/>
          </a:xfrm>
          <a:prstGeom prst="ellipse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Box 6"/>
          <p:cNvSpPr/>
          <p:nvPr/>
        </p:nvSpPr>
        <p:spPr>
          <a:xfrm>
            <a:off x="2011680" y="1645920"/>
            <a:ext cx="3200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56e0f"/>
                </a:solidFill>
                <a:latin typeface="Calibri"/>
              </a:rPr>
              <a:t>Blocked Patterns</a:t>
            </a:r>
            <a:endParaRPr b="0" lang="en-PH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7"/>
          <p:cNvSpPr/>
          <p:nvPr/>
        </p:nvSpPr>
        <p:spPr>
          <a:xfrm>
            <a:off x="2011680" y="205740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alibri"/>
              </a:rPr>
              <a:t>Layer 1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8"/>
          <p:cNvSpPr/>
          <p:nvPr/>
        </p:nvSpPr>
        <p:spPr>
          <a:xfrm>
            <a:off x="5943600" y="1691640"/>
            <a:ext cx="50288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Catches common mistakes</a:t>
            </a:r>
            <a:br>
              <a:rPr sz="1700"/>
            </a:b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and obvious attacks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ounded Rectangle 9"/>
          <p:cNvSpPr/>
          <p:nvPr/>
        </p:nvSpPr>
        <p:spPr>
          <a:xfrm>
            <a:off x="731520" y="2743200"/>
            <a:ext cx="10698120" cy="10054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Oval 10"/>
          <p:cNvSpPr/>
          <p:nvPr/>
        </p:nvSpPr>
        <p:spPr>
          <a:xfrm>
            <a:off x="1097280" y="2898720"/>
            <a:ext cx="685440" cy="68544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Box 11"/>
          <p:cNvSpPr/>
          <p:nvPr/>
        </p:nvSpPr>
        <p:spPr>
          <a:xfrm>
            <a:off x="2011680" y="2834640"/>
            <a:ext cx="3200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66ef1"/>
                </a:solidFill>
                <a:latin typeface="Calibri"/>
              </a:rPr>
              <a:t>User Confirmation</a:t>
            </a:r>
            <a:endParaRPr b="0" lang="en-PH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12"/>
          <p:cNvSpPr/>
          <p:nvPr/>
        </p:nvSpPr>
        <p:spPr>
          <a:xfrm>
            <a:off x="2011680" y="324612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alibri"/>
              </a:rPr>
              <a:t>Layer 2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Box 13"/>
          <p:cNvSpPr/>
          <p:nvPr/>
        </p:nvSpPr>
        <p:spPr>
          <a:xfrm>
            <a:off x="5943600" y="2880360"/>
            <a:ext cx="50288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Human approves every</a:t>
            </a:r>
            <a:br>
              <a:rPr sz="1700"/>
            </a:b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WRITE action before execution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Rounded Rectangle 14"/>
          <p:cNvSpPr/>
          <p:nvPr/>
        </p:nvSpPr>
        <p:spPr>
          <a:xfrm>
            <a:off x="731520" y="3931920"/>
            <a:ext cx="10698120" cy="100548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Oval 15"/>
          <p:cNvSpPr/>
          <p:nvPr/>
        </p:nvSpPr>
        <p:spPr>
          <a:xfrm>
            <a:off x="1097280" y="4087440"/>
            <a:ext cx="685440" cy="68544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16"/>
          <p:cNvSpPr/>
          <p:nvPr/>
        </p:nvSpPr>
        <p:spPr>
          <a:xfrm>
            <a:off x="2011680" y="4023360"/>
            <a:ext cx="3200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b55e"/>
                </a:solidFill>
                <a:latin typeface="Calibri"/>
              </a:rPr>
              <a:t>OS Permissions</a:t>
            </a:r>
            <a:endParaRPr b="0" lang="en-PH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17"/>
          <p:cNvSpPr/>
          <p:nvPr/>
        </p:nvSpPr>
        <p:spPr>
          <a:xfrm>
            <a:off x="2011680" y="443484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alibri"/>
              </a:rPr>
              <a:t>Layer 3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18"/>
          <p:cNvSpPr/>
          <p:nvPr/>
        </p:nvSpPr>
        <p:spPr>
          <a:xfrm>
            <a:off x="5943600" y="4069080"/>
            <a:ext cx="50288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Service account + sudoers</a:t>
            </a:r>
            <a:br>
              <a:rPr sz="1700"/>
            </a:b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= the real security boundary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19"/>
          <p:cNvSpPr/>
          <p:nvPr/>
        </p:nvSpPr>
        <p:spPr>
          <a:xfrm>
            <a:off x="731520" y="5303520"/>
            <a:ext cx="10515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b55e"/>
                </a:solidFill>
                <a:latin typeface="Calibri"/>
              </a:rPr>
              <a:t>Even if layers 1 and 2 fail, the OS won't allow it.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20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15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Full Audit Trail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Rounded Rectangle 4"/>
          <p:cNvSpPr/>
          <p:nvPr/>
        </p:nvSpPr>
        <p:spPr>
          <a:xfrm>
            <a:off x="731520" y="1463040"/>
            <a:ext cx="6857640" cy="2925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{"tool": "check_service_status",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"args": {"service": "nginx"}, "status": "OK"}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{"tool": "restart_service",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"args": {"service": "nginx"}, "status": "CONFIRMED"}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{"tool": "stop_service",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"args": {"service": "mysql"}, "status": "DENIED"}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Rounded Rectangle 5"/>
          <p:cNvSpPr/>
          <p:nvPr/>
        </p:nvSpPr>
        <p:spPr>
          <a:xfrm>
            <a:off x="8046720" y="1463040"/>
            <a:ext cx="3657240" cy="2925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6"/>
          <p:cNvSpPr/>
          <p:nvPr/>
        </p:nvSpPr>
        <p:spPr>
          <a:xfrm>
            <a:off x="8321040" y="1737360"/>
            <a:ext cx="155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b55e"/>
                </a:solidFill>
                <a:latin typeface="Consolas"/>
              </a:rPr>
              <a:t>OK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7"/>
          <p:cNvSpPr/>
          <p:nvPr/>
        </p:nvSpPr>
        <p:spPr>
          <a:xfrm>
            <a:off x="9601200" y="1737360"/>
            <a:ext cx="191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Read-only tool call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8"/>
          <p:cNvSpPr/>
          <p:nvPr/>
        </p:nvSpPr>
        <p:spPr>
          <a:xfrm>
            <a:off x="8321040" y="2286000"/>
            <a:ext cx="155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66ef1"/>
                </a:solidFill>
                <a:latin typeface="Consolas"/>
              </a:rPr>
              <a:t>CONFIRMED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9"/>
          <p:cNvSpPr/>
          <p:nvPr/>
        </p:nvSpPr>
        <p:spPr>
          <a:xfrm>
            <a:off x="9601200" y="2286000"/>
            <a:ext cx="191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User approved write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10"/>
          <p:cNvSpPr/>
          <p:nvPr/>
        </p:nvSpPr>
        <p:spPr>
          <a:xfrm>
            <a:off x="8321040" y="2834640"/>
            <a:ext cx="155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56e0f"/>
                </a:solidFill>
                <a:latin typeface="Consolas"/>
              </a:rPr>
              <a:t>DENIED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11"/>
          <p:cNvSpPr/>
          <p:nvPr/>
        </p:nvSpPr>
        <p:spPr>
          <a:xfrm>
            <a:off x="9601200" y="2834640"/>
            <a:ext cx="191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User rejected write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12"/>
          <p:cNvSpPr/>
          <p:nvPr/>
        </p:nvSpPr>
        <p:spPr>
          <a:xfrm>
            <a:off x="8321040" y="3383280"/>
            <a:ext cx="155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e83131"/>
                </a:solidFill>
                <a:latin typeface="Consolas"/>
              </a:rPr>
              <a:t>BLOCKED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13"/>
          <p:cNvSpPr/>
          <p:nvPr/>
        </p:nvSpPr>
        <p:spPr>
          <a:xfrm>
            <a:off x="9601200" y="3383280"/>
            <a:ext cx="1919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Caught by safety layer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ounded Rectangle 14"/>
          <p:cNvSpPr/>
          <p:nvPr/>
        </p:nvSpPr>
        <p:spPr>
          <a:xfrm>
            <a:off x="731520" y="4754880"/>
            <a:ext cx="10698120" cy="9140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TextBox 15"/>
          <p:cNvSpPr/>
          <p:nvPr/>
        </p:nvSpPr>
        <p:spPr>
          <a:xfrm>
            <a:off x="1005840" y="489204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onsolas"/>
              </a:rPr>
              <a:t>audit              →  current session      |      audit last          →  previous session      |      audit last 3   →  last 3 sessions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16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16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a1d2e"/>
                </a:solidFill>
                <a:latin typeface="Calibri"/>
              </a:rPr>
              <a:t>Configuration: One Env Var to Switch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Rounded Rectangle 4"/>
          <p:cNvSpPr/>
          <p:nvPr/>
        </p:nvSpPr>
        <p:spPr>
          <a:xfrm>
            <a:off x="731520" y="1463040"/>
            <a:ext cx="10698120" cy="13712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python agent.py                       # Ollama (local, default)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LLM_PROVIDER=openai python agent.py   # OpenAI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LLM_PROVIDER=anthropic python agent.py # Anthropic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Rounded Rectangle 5"/>
          <p:cNvSpPr/>
          <p:nvPr/>
        </p:nvSpPr>
        <p:spPr>
          <a:xfrm>
            <a:off x="731520" y="3200400"/>
            <a:ext cx="10698120" cy="456840"/>
          </a:xfrm>
          <a:prstGeom prst="roundRect">
            <a:avLst>
              <a:gd name="adj" fmla="val 16667"/>
            </a:avLst>
          </a:prstGeom>
          <a:solidFill>
            <a:srgbClr val="d8de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6"/>
          <p:cNvSpPr/>
          <p:nvPr/>
        </p:nvSpPr>
        <p:spPr>
          <a:xfrm>
            <a:off x="914400" y="3246120"/>
            <a:ext cx="3200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66ef1"/>
                </a:solidFill>
                <a:latin typeface="Consolas"/>
              </a:rPr>
              <a:t>Variable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7"/>
          <p:cNvSpPr/>
          <p:nvPr/>
        </p:nvSpPr>
        <p:spPr>
          <a:xfrm>
            <a:off x="4114800" y="3246120"/>
            <a:ext cx="274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66ef1"/>
                </a:solidFill>
                <a:latin typeface="Consolas"/>
              </a:rPr>
              <a:t>Default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8"/>
          <p:cNvSpPr/>
          <p:nvPr/>
        </p:nvSpPr>
        <p:spPr>
          <a:xfrm>
            <a:off x="6858000" y="3246120"/>
            <a:ext cx="4114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66ef1"/>
                </a:solidFill>
                <a:latin typeface="Calibri"/>
              </a:rPr>
              <a:t>Purpose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9"/>
          <p:cNvSpPr/>
          <p:nvPr/>
        </p:nvSpPr>
        <p:spPr>
          <a:xfrm>
            <a:off x="914400" y="374904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LLM_PROVIDER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10"/>
          <p:cNvSpPr/>
          <p:nvPr/>
        </p:nvSpPr>
        <p:spPr>
          <a:xfrm>
            <a:off x="4114800" y="374904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ollama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11"/>
          <p:cNvSpPr/>
          <p:nvPr/>
        </p:nvSpPr>
        <p:spPr>
          <a:xfrm>
            <a:off x="6858000" y="3749040"/>
            <a:ext cx="4114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Backend selection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12"/>
          <p:cNvSpPr/>
          <p:nvPr/>
        </p:nvSpPr>
        <p:spPr>
          <a:xfrm>
            <a:off x="914400" y="413316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OLLAMA_MODEL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13"/>
          <p:cNvSpPr/>
          <p:nvPr/>
        </p:nvSpPr>
        <p:spPr>
          <a:xfrm>
            <a:off x="4114800" y="413316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qwen3:8b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14"/>
          <p:cNvSpPr/>
          <p:nvPr/>
        </p:nvSpPr>
        <p:spPr>
          <a:xfrm>
            <a:off x="6858000" y="4133160"/>
            <a:ext cx="4114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Ollama model name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Box 15"/>
          <p:cNvSpPr/>
          <p:nvPr/>
        </p:nvSpPr>
        <p:spPr>
          <a:xfrm>
            <a:off x="914400" y="451728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OPENAI_MODEL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16"/>
          <p:cNvSpPr/>
          <p:nvPr/>
        </p:nvSpPr>
        <p:spPr>
          <a:xfrm>
            <a:off x="4114800" y="451728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gpt-4o-mini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17"/>
          <p:cNvSpPr/>
          <p:nvPr/>
        </p:nvSpPr>
        <p:spPr>
          <a:xfrm>
            <a:off x="6858000" y="4517280"/>
            <a:ext cx="4114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OpenAI model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Box 18"/>
          <p:cNvSpPr/>
          <p:nvPr/>
        </p:nvSpPr>
        <p:spPr>
          <a:xfrm>
            <a:off x="914400" y="490104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ANTHROPIC_MODEL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19"/>
          <p:cNvSpPr/>
          <p:nvPr/>
        </p:nvSpPr>
        <p:spPr>
          <a:xfrm>
            <a:off x="4114800" y="490104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claude-sonnet-4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20"/>
          <p:cNvSpPr/>
          <p:nvPr/>
        </p:nvSpPr>
        <p:spPr>
          <a:xfrm>
            <a:off x="6858000" y="4901040"/>
            <a:ext cx="4114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Anthropic model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Box 21"/>
          <p:cNvSpPr/>
          <p:nvPr/>
        </p:nvSpPr>
        <p:spPr>
          <a:xfrm>
            <a:off x="914400" y="528516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EXTRA_SERVICES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22"/>
          <p:cNvSpPr/>
          <p:nvPr/>
        </p:nvSpPr>
        <p:spPr>
          <a:xfrm>
            <a:off x="4114800" y="528516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—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23"/>
          <p:cNvSpPr/>
          <p:nvPr/>
        </p:nvSpPr>
        <p:spPr>
          <a:xfrm>
            <a:off x="6858000" y="5285160"/>
            <a:ext cx="4114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Add services to allowlist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24"/>
          <p:cNvSpPr/>
          <p:nvPr/>
        </p:nvSpPr>
        <p:spPr>
          <a:xfrm>
            <a:off x="914400" y="566928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onsolas"/>
              </a:rPr>
              <a:t>LOG_PATHS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25"/>
          <p:cNvSpPr/>
          <p:nvPr/>
        </p:nvSpPr>
        <p:spPr>
          <a:xfrm>
            <a:off x="4114800" y="5669280"/>
            <a:ext cx="274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/var/log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26"/>
          <p:cNvSpPr/>
          <p:nvPr/>
        </p:nvSpPr>
        <p:spPr>
          <a:xfrm>
            <a:off x="6858000" y="5669280"/>
            <a:ext cx="4114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a3f4c"/>
                </a:solidFill>
                <a:latin typeface="Calibri"/>
              </a:rPr>
              <a:t>Allowed log directories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2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17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One Command Install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Rounded Rectangle 4"/>
          <p:cNvSpPr/>
          <p:nvPr/>
        </p:nvSpPr>
        <p:spPr>
          <a:xfrm>
            <a:off x="3200400" y="1371600"/>
            <a:ext cx="5486040" cy="594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$ sudo bash install.sh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Oval 5"/>
          <p:cNvSpPr/>
          <p:nvPr/>
        </p:nvSpPr>
        <p:spPr>
          <a:xfrm>
            <a:off x="1371600" y="2377440"/>
            <a:ext cx="456840" cy="45684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Box 6"/>
          <p:cNvSpPr/>
          <p:nvPr/>
        </p:nvSpPr>
        <p:spPr>
          <a:xfrm>
            <a:off x="2011680" y="2404800"/>
            <a:ext cx="8229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3a3f4c"/>
                </a:solidFill>
                <a:latin typeface="Calibri"/>
              </a:rPr>
              <a:t>Creates sysadmin-copilot service account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Oval 7"/>
          <p:cNvSpPr/>
          <p:nvPr/>
        </p:nvSpPr>
        <p:spPr>
          <a:xfrm>
            <a:off x="1371600" y="3017520"/>
            <a:ext cx="456840" cy="45684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Box 8"/>
          <p:cNvSpPr/>
          <p:nvPr/>
        </p:nvSpPr>
        <p:spPr>
          <a:xfrm>
            <a:off x="2011680" y="3044880"/>
            <a:ext cx="8229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3a3f4c"/>
                </a:solidFill>
                <a:latin typeface="Calibri"/>
              </a:rPr>
              <a:t>Sets up groups (systemd-journal, adm)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Oval 9"/>
          <p:cNvSpPr/>
          <p:nvPr/>
        </p:nvSpPr>
        <p:spPr>
          <a:xfrm>
            <a:off x="1371600" y="3657600"/>
            <a:ext cx="456840" cy="45684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10"/>
          <p:cNvSpPr/>
          <p:nvPr/>
        </p:nvSpPr>
        <p:spPr>
          <a:xfrm>
            <a:off x="2011680" y="3684960"/>
            <a:ext cx="8229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3a3f4c"/>
                </a:solidFill>
                <a:latin typeface="Calibri"/>
              </a:rPr>
              <a:t>Installs app to /opt/sysadmin-copilot/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Oval 11"/>
          <p:cNvSpPr/>
          <p:nvPr/>
        </p:nvSpPr>
        <p:spPr>
          <a:xfrm>
            <a:off x="1371600" y="4297680"/>
            <a:ext cx="456840" cy="456840"/>
          </a:xfrm>
          <a:prstGeom prst="ellipse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12"/>
          <p:cNvSpPr/>
          <p:nvPr/>
        </p:nvSpPr>
        <p:spPr>
          <a:xfrm>
            <a:off x="2011680" y="4325040"/>
            <a:ext cx="8229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3a3f4c"/>
                </a:solidFill>
                <a:latin typeface="Calibri"/>
              </a:rPr>
              <a:t>Configures sudoers (validated with visudo!)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Oval 13"/>
          <p:cNvSpPr/>
          <p:nvPr/>
        </p:nvSpPr>
        <p:spPr>
          <a:xfrm>
            <a:off x="1371600" y="4937760"/>
            <a:ext cx="456840" cy="45684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Box 14"/>
          <p:cNvSpPr/>
          <p:nvPr/>
        </p:nvSpPr>
        <p:spPr>
          <a:xfrm>
            <a:off x="2011680" y="4965120"/>
            <a:ext cx="8229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3a3f4c"/>
                </a:solidFill>
                <a:latin typeface="Calibri"/>
              </a:rPr>
              <a:t>Creates /usr/local/bin/sysadmin-copilot wrapper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Rounded Rectangle 15"/>
          <p:cNvSpPr/>
          <p:nvPr/>
        </p:nvSpPr>
        <p:spPr>
          <a:xfrm>
            <a:off x="3200400" y="5636160"/>
            <a:ext cx="5486040" cy="594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$ sysadmin-copilot    # that's it!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Box 16"/>
          <p:cNvSpPr/>
          <p:nvPr/>
        </p:nvSpPr>
        <p:spPr>
          <a:xfrm>
            <a:off x="731520" y="645912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a808c"/>
                </a:solidFill>
                <a:latin typeface="Calibri"/>
              </a:rPr>
              <a:t>Least-privilege service account — contained blast radius even if compromised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Box 1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18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Extending: The Plugin System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TextBox 4"/>
          <p:cNvSpPr/>
          <p:nvPr/>
        </p:nvSpPr>
        <p:spPr>
          <a:xfrm>
            <a:off x="731520" y="1463040"/>
            <a:ext cx="5486040" cy="275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266ef1"/>
                </a:solidFill>
                <a:latin typeface="Calibri"/>
              </a:rPr>
              <a:t>How it works:</a:t>
            </a:r>
            <a:endParaRPr b="0" lang="en-PH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Drop a .py file in tools_extra/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Auto-discovered at startup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800" spc="-1" strike="noStrike">
                <a:solidFill>
                  <a:srgbClr val="0fb55e"/>
                </a:solidFill>
                <a:latin typeface="Calibri"/>
              </a:rPr>
              <a:t>No core files need editing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Declare WRITE_TOOLS for write actions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Same safety wrapping as core tools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Errors warned, don't crash startup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Rounded Rectangle 5"/>
          <p:cNvSpPr/>
          <p:nvPr/>
        </p:nvSpPr>
        <p:spPr>
          <a:xfrm>
            <a:off x="6583680" y="1371600"/>
            <a:ext cx="5120280" cy="4114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# tools_extra/docker_tools.py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from langchain_core.tools import tool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from tools import run_cmd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@tool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def check_docker_containers(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all: bool = False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) -&gt; str: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"""List Docker containers."""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cmd = ["docker", "ps"]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if all: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cmd.append("-a")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return run_cmd(cmd)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WRITE_TOOLS = set()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Rounded Rectangle 6"/>
          <p:cNvSpPr/>
          <p:nvPr/>
        </p:nvSpPr>
        <p:spPr>
          <a:xfrm>
            <a:off x="731520" y="5821200"/>
            <a:ext cx="10698120" cy="5025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Loaded 2 extra tool(s): check_docker_containers, check_docker_images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Box 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19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00" name="Picture 2" descr="tmpyk6nu2p4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0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Rectangle 4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TextBox 5"/>
          <p:cNvSpPr/>
          <p:nvPr/>
        </p:nvSpPr>
        <p:spPr>
          <a:xfrm>
            <a:off x="914400" y="2011680"/>
            <a:ext cx="10332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56e0f"/>
                </a:solidFill>
                <a:latin typeface="Calibri"/>
              </a:rPr>
              <a:t>WORKSHOP TIME!</a:t>
            </a:r>
            <a:endParaRPr b="0" lang="en-PH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6"/>
          <p:cNvSpPr/>
          <p:nvPr/>
        </p:nvSpPr>
        <p:spPr>
          <a:xfrm>
            <a:off x="914400" y="3291840"/>
            <a:ext cx="10332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000" spc="-1" strike="noStrike">
                <a:solidFill>
                  <a:srgbClr val="1a1d2e"/>
                </a:solidFill>
                <a:latin typeface="Calibri"/>
              </a:rPr>
              <a:t>Let's Build a Threat Intelligence Plugin</a:t>
            </a:r>
            <a:endParaRPr b="0" lang="en-PH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ectangle 7"/>
          <p:cNvSpPr/>
          <p:nvPr/>
        </p:nvSpPr>
        <p:spPr>
          <a:xfrm>
            <a:off x="731520" y="4206240"/>
            <a:ext cx="10698120" cy="378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8"/>
          <p:cNvSpPr/>
          <p:nvPr/>
        </p:nvSpPr>
        <p:spPr>
          <a:xfrm>
            <a:off x="914400" y="4572000"/>
            <a:ext cx="103323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266ef1"/>
                </a:solidFill>
                <a:latin typeface="Consolas"/>
              </a:rPr>
              <a:t>tools_extra/threat_intel.py</a:t>
            </a:r>
            <a:endParaRPr b="0" lang="en-PH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8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56e0f"/>
                </a:solidFill>
                <a:latin typeface="Calibri"/>
              </a:rPr>
              <a:t>Workshop: Threat Intel Plugin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Rounded Rectangle 4"/>
          <p:cNvSpPr/>
          <p:nvPr/>
        </p:nvSpPr>
        <p:spPr>
          <a:xfrm>
            <a:off x="731520" y="146304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5"/>
          <p:cNvSpPr/>
          <p:nvPr/>
        </p:nvSpPr>
        <p:spPr>
          <a:xfrm>
            <a:off x="1005840" y="1554480"/>
            <a:ext cx="2925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66ef1"/>
                </a:solidFill>
                <a:latin typeface="Consolas"/>
              </a:rPr>
              <a:t>extract_iocs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6"/>
          <p:cNvSpPr/>
          <p:nvPr/>
        </p:nvSpPr>
        <p:spPr>
          <a:xfrm>
            <a:off x="4114800" y="1554480"/>
            <a:ext cx="6857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Extract IPs, domains, URLs, hashes from log files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Rounded Rectangle 7"/>
          <p:cNvSpPr/>
          <p:nvPr/>
        </p:nvSpPr>
        <p:spPr>
          <a:xfrm>
            <a:off x="731520" y="224028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4" name="TextBox 8"/>
          <p:cNvSpPr/>
          <p:nvPr/>
        </p:nvSpPr>
        <p:spPr>
          <a:xfrm>
            <a:off x="1005840" y="2331720"/>
            <a:ext cx="2925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b55e"/>
                </a:solidFill>
                <a:latin typeface="Consolas"/>
              </a:rPr>
              <a:t>hash_file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9"/>
          <p:cNvSpPr/>
          <p:nvPr/>
        </p:nvSpPr>
        <p:spPr>
          <a:xfrm>
            <a:off x="4114800" y="2331720"/>
            <a:ext cx="6857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Compute MD5 / SHA1 / SHA256 of any file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Rounded Rectangle 10"/>
          <p:cNvSpPr/>
          <p:nvPr/>
        </p:nvSpPr>
        <p:spPr>
          <a:xfrm>
            <a:off x="731520" y="301752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TextBox 11"/>
          <p:cNvSpPr/>
          <p:nvPr/>
        </p:nvSpPr>
        <p:spPr>
          <a:xfrm>
            <a:off x="1005840" y="3108960"/>
            <a:ext cx="2925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56e0f"/>
                </a:solidFill>
                <a:latin typeface="Consolas"/>
              </a:rPr>
              <a:t>vt_hash_lookup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Box 12"/>
          <p:cNvSpPr/>
          <p:nvPr/>
        </p:nvSpPr>
        <p:spPr>
          <a:xfrm>
            <a:off x="4114800" y="3108960"/>
            <a:ext cx="6857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Look up file hash on VirusTotal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Rounded Rectangle 13"/>
          <p:cNvSpPr/>
          <p:nvPr/>
        </p:nvSpPr>
        <p:spPr>
          <a:xfrm>
            <a:off x="731520" y="379476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0" name="TextBox 14"/>
          <p:cNvSpPr/>
          <p:nvPr/>
        </p:nvSpPr>
        <p:spPr>
          <a:xfrm>
            <a:off x="1005840" y="3886200"/>
            <a:ext cx="2925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56e0f"/>
                </a:solidFill>
                <a:latin typeface="Consolas"/>
              </a:rPr>
              <a:t>vt_ip_lookup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15"/>
          <p:cNvSpPr/>
          <p:nvPr/>
        </p:nvSpPr>
        <p:spPr>
          <a:xfrm>
            <a:off x="4114800" y="3886200"/>
            <a:ext cx="6857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Look up IP reputation on VirusTotal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Rounded Rectangle 16"/>
          <p:cNvSpPr/>
          <p:nvPr/>
        </p:nvSpPr>
        <p:spPr>
          <a:xfrm>
            <a:off x="731520" y="457200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3" name="TextBox 17"/>
          <p:cNvSpPr/>
          <p:nvPr/>
        </p:nvSpPr>
        <p:spPr>
          <a:xfrm>
            <a:off x="1005840" y="4663440"/>
            <a:ext cx="2925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56e0f"/>
                </a:solidFill>
                <a:latin typeface="Consolas"/>
              </a:rPr>
              <a:t>vt_domain_lookup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Box 18"/>
          <p:cNvSpPr/>
          <p:nvPr/>
        </p:nvSpPr>
        <p:spPr>
          <a:xfrm>
            <a:off x="4114800" y="4663440"/>
            <a:ext cx="6857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Look up domain reputation on VirusTotal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Rounded Rectangle 19"/>
          <p:cNvSpPr/>
          <p:nvPr/>
        </p:nvSpPr>
        <p:spPr>
          <a:xfrm>
            <a:off x="3200400" y="5532120"/>
            <a:ext cx="5760360" cy="548280"/>
          </a:xfrm>
          <a:prstGeom prst="roundRect">
            <a:avLst>
              <a:gd name="adj" fmla="val 16667"/>
            </a:avLst>
          </a:prstGeom>
          <a:solidFill>
            <a:srgbClr val="e0f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TextBox 20"/>
          <p:cNvSpPr/>
          <p:nvPr/>
        </p:nvSpPr>
        <p:spPr>
          <a:xfrm>
            <a:off x="3383280" y="5623560"/>
            <a:ext cx="5394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b55e"/>
                </a:solidFill>
                <a:latin typeface="Calibri"/>
              </a:rPr>
              <a:t>All read-only tools — WRITE_TOOLS = {} (empty)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Box 21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21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9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56e0f"/>
                </a:solidFill>
                <a:latin typeface="Calibri"/>
              </a:rPr>
              <a:t>Step 1: Create the File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Rounded Rectangle 4"/>
          <p:cNvSpPr/>
          <p:nvPr/>
        </p:nvSpPr>
        <p:spPr>
          <a:xfrm>
            <a:off x="2286000" y="1371600"/>
            <a:ext cx="7589160" cy="5025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$ touch tools_extra/threat_intel.py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Rounded Rectangle 5"/>
          <p:cNvSpPr/>
          <p:nvPr/>
        </p:nvSpPr>
        <p:spPr>
          <a:xfrm>
            <a:off x="1828800" y="2194560"/>
            <a:ext cx="8503560" cy="4114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"""Threat intelligence tools for Sysadmin Copilot.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Provides IOC extraction, file hashing, and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VirusTotal lookups. VT tools require a VT_API_KEY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environment variable (free tier works fine).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"""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import hashlib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import os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import re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from collections import Counter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from langchain_core.tools import tool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from tools import run_cmd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# ... tools go here ...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WRITE_TOOLS = {}  # All read-only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Box 6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22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56e0f"/>
                </a:solidFill>
                <a:latin typeface="Calibri"/>
              </a:rPr>
              <a:t>Step 2: Define IOC Patterns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7" name="Rounded Rectangle 4"/>
          <p:cNvSpPr/>
          <p:nvPr/>
        </p:nvSpPr>
        <p:spPr>
          <a:xfrm>
            <a:off x="731520" y="1371600"/>
            <a:ext cx="7772040" cy="4388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_RE_IPV4   = re.compile(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r"\b(?:(?:25[0-5]|2[0-4]\d|1\d{2}|[1-9]?\d)\.){3}"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r"(?:25[0-5]|2[0-4]\d|1\d{2}|[1-9]?\d)\b"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_RE_HASH_MD5    = re.compile(r"\b[a-fA-F0-9]{32}\b")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_RE_HASH_SHA1   = re.compile(r"\b[a-fA-F0-9]{40}\b")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_RE_HASH_SHA256 = re.compile(r"\b[a-fA-F0-9]{64}\b")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_RE_URL    = re.compile(r"https?://[^\s\"'&lt;&gt;]+")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_RE_EMAIL  = re.compile(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r"\b[a-zA-Z0-9._%+-]+@[a-zA-Z0-9.-]+\.[a-zA-Z]{2,}\b"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_RE_DOMAIN = re.compile(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r"\b(?:[a-zA-Z0-9]...)+(?:com|net|org|...)\b"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)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# False-positive filter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_IGNORE_IPS = {"0.0.0.0", "127.0.0.1", "255.255.255.255"}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Rounded Rectangle 5"/>
          <p:cNvSpPr/>
          <p:nvPr/>
        </p:nvSpPr>
        <p:spPr>
          <a:xfrm>
            <a:off x="8961120" y="1371600"/>
            <a:ext cx="2742840" cy="438876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9" name="TextBox 6"/>
          <p:cNvSpPr/>
          <p:nvPr/>
        </p:nvSpPr>
        <p:spPr>
          <a:xfrm>
            <a:off x="9235440" y="1645920"/>
            <a:ext cx="2194200" cy="29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f56e0f"/>
                </a:solidFill>
                <a:latin typeface="Calibri"/>
              </a:rPr>
              <a:t>Tip: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MD5 regex will match UUIDs and other 32-char hex strings.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1" lang="en-US" sz="1500" spc="-1" strike="noStrike">
                <a:solidFill>
                  <a:srgbClr val="266ef1"/>
                </a:solidFill>
                <a:latin typeface="Calibri"/>
              </a:rPr>
              <a:t>Document this in the docstring!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We cascade: SHA256 first, exclude those from SHA1, exclude both from MD5.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Box 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23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2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56e0f"/>
                </a:solidFill>
                <a:latin typeface="Calibri"/>
              </a:rPr>
              <a:t>Step 3: The extract_iocs Tool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Rounded Rectangle 4"/>
          <p:cNvSpPr/>
          <p:nvPr/>
        </p:nvSpPr>
        <p:spPr>
          <a:xfrm>
            <a:off x="731520" y="1371600"/>
            <a:ext cx="7772040" cy="4571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@tool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def extract_iocs(file_path: str,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         max_results: int = 50) -&gt; str: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"""Extract IOCs from a file.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Scans for IPs, domains, URLs, emails,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and file hashes (MD5, SHA1, SHA256).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"""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# 50 MB file size guard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if os.path.getsize(file_path) &gt; 50*1024*1024: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return "[ERROR] File too large"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text = open(file_path, "r", errors="replace").read()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ips = Counter(ip for ip in _RE_IPV4.findall(text)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          if ip not in _IGNORE_IPS)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sha256s = Counter(_RE_HASH_SHA256.findall(text))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sha1s = Counter(h for h in _RE_HASH_SHA1.findall(text)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            if h not in set(sha256s))  # cascade!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...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# Format with counts: "185.x.x.x (x23)"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Rounded Rectangle 5"/>
          <p:cNvSpPr/>
          <p:nvPr/>
        </p:nvSpPr>
        <p:spPr>
          <a:xfrm>
            <a:off x="8961120" y="1371600"/>
            <a:ext cx="2742840" cy="45716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TextBox 6"/>
          <p:cNvSpPr/>
          <p:nvPr/>
        </p:nvSpPr>
        <p:spPr>
          <a:xfrm>
            <a:off x="9235440" y="1645920"/>
            <a:ext cx="2194200" cy="30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266ef1"/>
                </a:solidFill>
                <a:latin typeface="Calibri"/>
              </a:rPr>
              <a:t>Key design: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@tool decorator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Clear docstring (the LLM reads it!)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50 MB file size guard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Counter for frequency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500" spc="-1" strike="noStrike">
                <a:solidFill>
                  <a:srgbClr val="0fb55e"/>
                </a:solidFill>
                <a:latin typeface="Calibri"/>
              </a:rPr>
              <a:t>SHA256→SHA1→MD5 cascade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3a3f4c"/>
                </a:solidFill>
                <a:latin typeface="Calibri"/>
              </a:rPr>
              <a:t>Filter domains already in URLs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Box 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24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56e0f"/>
                </a:solidFill>
                <a:latin typeface="Calibri"/>
              </a:rPr>
              <a:t>Step 4: The hash_file Tool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Rounded Rectangle 4"/>
          <p:cNvSpPr/>
          <p:nvPr/>
        </p:nvSpPr>
        <p:spPr>
          <a:xfrm>
            <a:off x="1371600" y="1371600"/>
            <a:ext cx="6857640" cy="5288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@tool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def hash_file(file_path: str) -&gt; str: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"""Compute MD5, SHA1, and SHA256 hashes.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Useful for verifying file integrity or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looking up hashes on VirusTotal.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"""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md5 = hashlib.md5()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sha1 = hashlib.sha1()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sha256 = hashlib.sha256()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with open(file_path, "rb") as f: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for chunk in iter(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    lambda: f.read(8192), b""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):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    md5.update(chunk)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    sha1.update(chunk)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    sha256.update(chunk)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return (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f"File:   {file_path}\n"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f"MD5:    {md5.hexdigest()}\n"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f"SHA1:   {sha1.hexdigest()}\n"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f"SHA256: {sha256.hexdigest()}"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)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Rounded Rectangle 5"/>
          <p:cNvSpPr/>
          <p:nvPr/>
        </p:nvSpPr>
        <p:spPr>
          <a:xfrm>
            <a:off x="8640000" y="2448360"/>
            <a:ext cx="3017160" cy="25916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TextBox 6"/>
          <p:cNvSpPr/>
          <p:nvPr/>
        </p:nvSpPr>
        <p:spPr>
          <a:xfrm>
            <a:off x="8961120" y="2560320"/>
            <a:ext cx="2468520" cy="23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b55e"/>
                </a:solidFill>
                <a:latin typeface="Calibri"/>
              </a:rPr>
              <a:t>Chunked reading</a:t>
            </a:r>
            <a:endParaRPr b="0" lang="en-PH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600" spc="-1" strike="noStrike">
                <a:solidFill>
                  <a:srgbClr val="3a3f4c"/>
                </a:solidFill>
                <a:latin typeface="Calibri"/>
              </a:rPr>
              <a:t>8192-byte chunks — works on multi-GB files without loading into memory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3a3f4c"/>
                </a:solidFill>
                <a:latin typeface="Calibri"/>
              </a:rPr>
              <a:t>All three hashes computed in a single pass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25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56e0f"/>
                </a:solidFill>
                <a:latin typeface="Calibri"/>
              </a:rPr>
              <a:t>Step 5: VirusTotal Lookups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Rounded Rectangle 4"/>
          <p:cNvSpPr/>
          <p:nvPr/>
        </p:nvSpPr>
        <p:spPr>
          <a:xfrm>
            <a:off x="731520" y="1371600"/>
            <a:ext cx="6857640" cy="4114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@tool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def vt_hash_lookup(file_hash: str) -&gt; str: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"""Look up a file hash on VirusTotal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for malware detection results.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Requires VT_API_KEY env var (free tier ok).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"""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api_key = os.environ.get("VT_API_KEY")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if not api_key: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return "[ERROR] VT_API_KEY not set."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return run_cmd([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"curl", "-s",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"-H", f"x-apikey: {api_key}",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f"https://www.virustotal.com/api/v3"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    f"/files/{file_hash}",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], 30)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Rounded Rectangle 5"/>
          <p:cNvSpPr/>
          <p:nvPr/>
        </p:nvSpPr>
        <p:spPr>
          <a:xfrm>
            <a:off x="8046720" y="1371600"/>
            <a:ext cx="3657240" cy="411444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8321040" y="1645920"/>
            <a:ext cx="3108600" cy="30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f56e0f"/>
                </a:solidFill>
                <a:latin typeface="Calibri"/>
              </a:rPr>
              <a:t>Same pattern for: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266ef1"/>
                </a:solidFill>
                <a:latin typeface="Consolas"/>
              </a:rPr>
              <a:t>vt_hash_lookup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→ </a:t>
            </a: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/api/v3/files/{hash}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266ef1"/>
                </a:solidFill>
                <a:latin typeface="Consolas"/>
              </a:rPr>
              <a:t>vt_ip_lookup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→ </a:t>
            </a: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/api/v3/ip_addresses/{ip}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266ef1"/>
                </a:solidFill>
                <a:latin typeface="Consolas"/>
              </a:rPr>
              <a:t>vt_domain_lookup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→ </a:t>
            </a:r>
            <a:r>
              <a:rPr b="0" lang="en-US" sz="1400" spc="-1" strike="noStrike">
                <a:solidFill>
                  <a:srgbClr val="7a808c"/>
                </a:solidFill>
                <a:latin typeface="Consolas"/>
              </a:rPr>
              <a:t>/api/v3/domains/{domain}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500" spc="-1" strike="noStrike">
                <a:solidFill>
                  <a:srgbClr val="0fb55e"/>
                </a:solidFill>
                <a:latin typeface="Calibri"/>
              </a:rPr>
              <a:t>Free VT API tier: 4 lookups/minute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Box 7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26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2"/>
          <p:cNvSpPr/>
          <p:nvPr/>
        </p:nvSpPr>
        <p:spPr>
          <a:xfrm>
            <a:off x="731520" y="36576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56e0f"/>
                </a:solidFill>
                <a:latin typeface="Calibri"/>
              </a:rPr>
              <a:t>Step 6: Test Your Plugin</a:t>
            </a:r>
            <a:endParaRPr b="0" lang="en-PH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Rounded Rectangle 4"/>
          <p:cNvSpPr/>
          <p:nvPr/>
        </p:nvSpPr>
        <p:spPr>
          <a:xfrm>
            <a:off x="731520" y="1371600"/>
            <a:ext cx="5943240" cy="2559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❯ </a:t>
            </a: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tools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extract_iocs       Extract IOCs from a file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hash_file          Compute file hashes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vt_hash_lookup     Look up hash on VirusTotal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vt_ip_lookup       Look up IP on VirusTotal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vt_domain_lookup   Look up domain on VirusTotal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Rounded Rectangle 5"/>
          <p:cNvSpPr/>
          <p:nvPr/>
        </p:nvSpPr>
        <p:spPr>
          <a:xfrm>
            <a:off x="731520" y="4114800"/>
            <a:ext cx="5943240" cy="25452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❯ </a:t>
            </a: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Extract IOCs from /var/log/auth.log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[extract_iocs]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IPs (47 unique):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185.220.101.47  (x23)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192.168.1.1     (x12)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10.0.0.1        (x8)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...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Domains (3 unique):</a:t>
            </a:r>
            <a:br>
              <a:rPr sz="1300"/>
            </a:b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    evil-scanner.ru  (x5)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Rounded Rectangle 6"/>
          <p:cNvSpPr/>
          <p:nvPr/>
        </p:nvSpPr>
        <p:spPr>
          <a:xfrm>
            <a:off x="7132320" y="1371600"/>
            <a:ext cx="4297320" cy="5211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8" name="TextBox 7"/>
          <p:cNvSpPr/>
          <p:nvPr/>
        </p:nvSpPr>
        <p:spPr>
          <a:xfrm>
            <a:off x="7406640" y="1645920"/>
            <a:ext cx="3748680" cy="322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000" spc="-1" strike="noStrike">
                <a:solidFill>
                  <a:srgbClr val="f56e0f"/>
                </a:solidFill>
                <a:latin typeface="Calibri"/>
              </a:rPr>
              <a:t>Testing checklist: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1. Start the copilot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2. Type "tools" — new tools appear?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3. Ask it to extract IOCs from a log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4. Ask it to hash a file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1700" spc="-1" strike="noStrike">
                <a:solidFill>
                  <a:srgbClr val="3a3f4c"/>
                </a:solidFill>
                <a:latin typeface="Calibri"/>
              </a:rPr>
              <a:t>5. If VT_API_KEY is set, try a lookup</a:t>
            </a:r>
            <a:endParaRPr b="0" lang="en-PH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266ef1"/>
                </a:solidFill>
                <a:latin typeface="Calibri"/>
              </a:rPr>
              <a:t>Type "audit" to verify tool calls were logged!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8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27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f56e0f"/>
                </a:solidFill>
                <a:latin typeface="Calibri"/>
              </a:rPr>
              <a:t>Plugin Recipe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3" name="Rounded Rectangle 4"/>
          <p:cNvSpPr/>
          <p:nvPr/>
        </p:nvSpPr>
        <p:spPr>
          <a:xfrm>
            <a:off x="914400" y="1463040"/>
            <a:ext cx="1033236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4" name="Oval 5"/>
          <p:cNvSpPr/>
          <p:nvPr/>
        </p:nvSpPr>
        <p:spPr>
          <a:xfrm>
            <a:off x="1188720" y="1536120"/>
            <a:ext cx="502560" cy="50256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Box 6"/>
          <p:cNvSpPr/>
          <p:nvPr/>
        </p:nvSpPr>
        <p:spPr>
          <a:xfrm>
            <a:off x="1920240" y="1554480"/>
            <a:ext cx="8686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Create  tools_extra/your_plugin.py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Rounded Rectangle 7"/>
          <p:cNvSpPr/>
          <p:nvPr/>
        </p:nvSpPr>
        <p:spPr>
          <a:xfrm>
            <a:off x="914400" y="2221920"/>
            <a:ext cx="1033236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Oval 8"/>
          <p:cNvSpPr/>
          <p:nvPr/>
        </p:nvSpPr>
        <p:spPr>
          <a:xfrm>
            <a:off x="1188720" y="2295000"/>
            <a:ext cx="502560" cy="50256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Box 9"/>
          <p:cNvSpPr/>
          <p:nvPr/>
        </p:nvSpPr>
        <p:spPr>
          <a:xfrm>
            <a:off x="1920240" y="2313360"/>
            <a:ext cx="8686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Import  @tool  from langchain_core.tools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Rounded Rectangle 10"/>
          <p:cNvSpPr/>
          <p:nvPr/>
        </p:nvSpPr>
        <p:spPr>
          <a:xfrm>
            <a:off x="914400" y="2980800"/>
            <a:ext cx="1033236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Oval 11"/>
          <p:cNvSpPr/>
          <p:nvPr/>
        </p:nvSpPr>
        <p:spPr>
          <a:xfrm>
            <a:off x="1188720" y="3054240"/>
            <a:ext cx="502560" cy="50256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12"/>
          <p:cNvSpPr/>
          <p:nvPr/>
        </p:nvSpPr>
        <p:spPr>
          <a:xfrm>
            <a:off x="1920240" y="3072240"/>
            <a:ext cx="8686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Import  run_cmd  from tools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Rounded Rectangle 13"/>
          <p:cNvSpPr/>
          <p:nvPr/>
        </p:nvSpPr>
        <p:spPr>
          <a:xfrm>
            <a:off x="914400" y="3740040"/>
            <a:ext cx="1033236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3" name="Oval 14"/>
          <p:cNvSpPr/>
          <p:nvPr/>
        </p:nvSpPr>
        <p:spPr>
          <a:xfrm>
            <a:off x="1188720" y="3813120"/>
            <a:ext cx="502560" cy="502560"/>
          </a:xfrm>
          <a:prstGeom prst="ellipse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Box 15"/>
          <p:cNvSpPr/>
          <p:nvPr/>
        </p:nvSpPr>
        <p:spPr>
          <a:xfrm>
            <a:off x="1920240" y="3831480"/>
            <a:ext cx="8686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Write functions with clear docstrings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ounded Rectangle 16"/>
          <p:cNvSpPr/>
          <p:nvPr/>
        </p:nvSpPr>
        <p:spPr>
          <a:xfrm>
            <a:off x="914400" y="4498920"/>
            <a:ext cx="1033236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Oval 17"/>
          <p:cNvSpPr/>
          <p:nvPr/>
        </p:nvSpPr>
        <p:spPr>
          <a:xfrm>
            <a:off x="1188720" y="4572000"/>
            <a:ext cx="502560" cy="502560"/>
          </a:xfrm>
          <a:prstGeom prst="ellipse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Box 18"/>
          <p:cNvSpPr/>
          <p:nvPr/>
        </p:nvSpPr>
        <p:spPr>
          <a:xfrm>
            <a:off x="1920240" y="4590360"/>
            <a:ext cx="8686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Set  WRITE_TOOLS = {}  (or list write tools)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Rounded Rectangle 19"/>
          <p:cNvSpPr/>
          <p:nvPr/>
        </p:nvSpPr>
        <p:spPr>
          <a:xfrm>
            <a:off x="914400" y="5257800"/>
            <a:ext cx="10332360" cy="63972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9" name="Oval 20"/>
          <p:cNvSpPr/>
          <p:nvPr/>
        </p:nvSpPr>
        <p:spPr>
          <a:xfrm>
            <a:off x="1188720" y="5330880"/>
            <a:ext cx="502560" cy="502560"/>
          </a:xfrm>
          <a:prstGeom prst="ellipse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PH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Box 21"/>
          <p:cNvSpPr/>
          <p:nvPr/>
        </p:nvSpPr>
        <p:spPr>
          <a:xfrm>
            <a:off x="1920240" y="5349240"/>
            <a:ext cx="8686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Restart the copilot — done!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Rounded Rectangle 22"/>
          <p:cNvSpPr/>
          <p:nvPr/>
        </p:nvSpPr>
        <p:spPr>
          <a:xfrm>
            <a:off x="2286000" y="6075000"/>
            <a:ext cx="7589160" cy="639720"/>
          </a:xfrm>
          <a:prstGeom prst="roundRect">
            <a:avLst>
              <a:gd name="adj" fmla="val 16667"/>
            </a:avLst>
          </a:prstGeom>
          <a:solidFill>
            <a:srgbClr val="e0f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TextBox 23"/>
          <p:cNvSpPr/>
          <p:nvPr/>
        </p:nvSpPr>
        <p:spPr>
          <a:xfrm>
            <a:off x="2160000" y="6166440"/>
            <a:ext cx="7791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b55e"/>
                </a:solidFill>
                <a:latin typeface="Calibri"/>
              </a:rPr>
              <a:t>No core file edits.  No registration.  Just drop and go.</a:t>
            </a:r>
            <a:endParaRPr b="0" lang="en-PH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24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28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5" name="TextBox 2"/>
          <p:cNvSpPr/>
          <p:nvPr/>
        </p:nvSpPr>
        <p:spPr>
          <a:xfrm>
            <a:off x="731520" y="36576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1a1d2e"/>
                </a:solidFill>
                <a:latin typeface="Calibri"/>
              </a:rPr>
              <a:t>Ideas for More Plugins</a:t>
            </a:r>
            <a:endParaRPr b="0" lang="en-PH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Rectangle 3"/>
          <p:cNvSpPr/>
          <p:nvPr/>
        </p:nvSpPr>
        <p:spPr>
          <a:xfrm>
            <a:off x="731520" y="109728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Rounded Rectangle 4"/>
          <p:cNvSpPr/>
          <p:nvPr/>
        </p:nvSpPr>
        <p:spPr>
          <a:xfrm>
            <a:off x="731520" y="1645920"/>
            <a:ext cx="521172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8" name="Rectangle 5"/>
          <p:cNvSpPr/>
          <p:nvPr/>
        </p:nvSpPr>
        <p:spPr>
          <a:xfrm>
            <a:off x="731520" y="1645920"/>
            <a:ext cx="109440" cy="5940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TextBox 6"/>
          <p:cNvSpPr/>
          <p:nvPr/>
        </p:nvSpPr>
        <p:spPr>
          <a:xfrm>
            <a:off x="1097280" y="173736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Docker container management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Rounded Rectangle 7"/>
          <p:cNvSpPr/>
          <p:nvPr/>
        </p:nvSpPr>
        <p:spPr>
          <a:xfrm>
            <a:off x="731520" y="2395800"/>
            <a:ext cx="521172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1" name="Rectangle 8"/>
          <p:cNvSpPr/>
          <p:nvPr/>
        </p:nvSpPr>
        <p:spPr>
          <a:xfrm>
            <a:off x="731520" y="2395800"/>
            <a:ext cx="109440" cy="594000"/>
          </a:xfrm>
          <a:prstGeom prst="rect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2" name="TextBox 9"/>
          <p:cNvSpPr/>
          <p:nvPr/>
        </p:nvSpPr>
        <p:spPr>
          <a:xfrm>
            <a:off x="1097280" y="248724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Kubernetes pod inspection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Rounded Rectangle 10"/>
          <p:cNvSpPr/>
          <p:nvPr/>
        </p:nvSpPr>
        <p:spPr>
          <a:xfrm>
            <a:off x="731520" y="3145680"/>
            <a:ext cx="521172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Rectangle 11"/>
          <p:cNvSpPr/>
          <p:nvPr/>
        </p:nvSpPr>
        <p:spPr>
          <a:xfrm>
            <a:off x="731520" y="3145680"/>
            <a:ext cx="109440" cy="5940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5" name="TextBox 12"/>
          <p:cNvSpPr/>
          <p:nvPr/>
        </p:nvSpPr>
        <p:spPr>
          <a:xfrm>
            <a:off x="1097280" y="323712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SSL certificate checker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Rounded Rectangle 13"/>
          <p:cNvSpPr/>
          <p:nvPr/>
        </p:nvSpPr>
        <p:spPr>
          <a:xfrm>
            <a:off x="731520" y="3895200"/>
            <a:ext cx="521172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7" name="Rectangle 14"/>
          <p:cNvSpPr/>
          <p:nvPr/>
        </p:nvSpPr>
        <p:spPr>
          <a:xfrm>
            <a:off x="731520" y="3895200"/>
            <a:ext cx="109440" cy="5940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8" name="TextBox 15"/>
          <p:cNvSpPr/>
          <p:nvPr/>
        </p:nvSpPr>
        <p:spPr>
          <a:xfrm>
            <a:off x="1097280" y="398664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Backup status monitor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Rounded Rectangle 16"/>
          <p:cNvSpPr/>
          <p:nvPr/>
        </p:nvSpPr>
        <p:spPr>
          <a:xfrm>
            <a:off x="6217920" y="1645920"/>
            <a:ext cx="521172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0" name="Rectangle 17"/>
          <p:cNvSpPr/>
          <p:nvPr/>
        </p:nvSpPr>
        <p:spPr>
          <a:xfrm>
            <a:off x="6217920" y="1645920"/>
            <a:ext cx="109440" cy="594000"/>
          </a:xfrm>
          <a:prstGeom prst="rect">
            <a:avLst/>
          </a:prstGeom>
          <a:solidFill>
            <a:srgbClr val="0fb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1" name="TextBox 18"/>
          <p:cNvSpPr/>
          <p:nvPr/>
        </p:nvSpPr>
        <p:spPr>
          <a:xfrm>
            <a:off x="6583680" y="173736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Cloud provider tools (AWS / GCP status)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Rounded Rectangle 19"/>
          <p:cNvSpPr/>
          <p:nvPr/>
        </p:nvSpPr>
        <p:spPr>
          <a:xfrm>
            <a:off x="6217920" y="2395800"/>
            <a:ext cx="521172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3" name="Rectangle 20"/>
          <p:cNvSpPr/>
          <p:nvPr/>
        </p:nvSpPr>
        <p:spPr>
          <a:xfrm>
            <a:off x="6217920" y="2395800"/>
            <a:ext cx="109440" cy="594000"/>
          </a:xfrm>
          <a:prstGeom prst="rect">
            <a:avLst/>
          </a:prstGeom>
          <a:solidFill>
            <a:srgbClr val="f56e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4" name="TextBox 21"/>
          <p:cNvSpPr/>
          <p:nvPr/>
        </p:nvSpPr>
        <p:spPr>
          <a:xfrm>
            <a:off x="6583680" y="248724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Custom application health checks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Rounded Rectangle 22"/>
          <p:cNvSpPr/>
          <p:nvPr/>
        </p:nvSpPr>
        <p:spPr>
          <a:xfrm>
            <a:off x="6217920" y="3145680"/>
            <a:ext cx="5211720" cy="594000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6" name="Rectangle 23"/>
          <p:cNvSpPr/>
          <p:nvPr/>
        </p:nvSpPr>
        <p:spPr>
          <a:xfrm>
            <a:off x="6217920" y="3145680"/>
            <a:ext cx="109440" cy="5940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7" name="TextBox 24"/>
          <p:cNvSpPr/>
          <p:nvPr/>
        </p:nvSpPr>
        <p:spPr>
          <a:xfrm>
            <a:off x="6583680" y="323712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a3f4c"/>
                </a:solidFill>
                <a:latin typeface="Calibri"/>
              </a:rPr>
              <a:t>Database query tools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Box 25"/>
          <p:cNvSpPr/>
          <p:nvPr/>
        </p:nvSpPr>
        <p:spPr>
          <a:xfrm>
            <a:off x="731520" y="5029200"/>
            <a:ext cx="10515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7a808c"/>
                </a:solidFill>
                <a:latin typeface="Calibri"/>
              </a:rPr>
              <a:t>The plugin system makes it easy to adapt the copilot</a:t>
            </a:r>
            <a:br>
              <a:rPr sz="1800"/>
            </a:br>
            <a:r>
              <a:rPr b="0" lang="en-US" sz="1800" spc="-1" strike="noStrike">
                <a:solidFill>
                  <a:srgbClr val="7a808c"/>
                </a:solidFill>
                <a:latin typeface="Calibri"/>
              </a:rPr>
              <a:t>to your specific environment and workflows.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Box 26"/>
          <p:cNvSpPr/>
          <p:nvPr/>
        </p:nvSpPr>
        <p:spPr>
          <a:xfrm>
            <a:off x="11155680" y="640080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a808c"/>
                </a:solidFill>
                <a:latin typeface="Calibri"/>
              </a:rPr>
              <a:t>29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1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2" name="TextBox 3"/>
          <p:cNvSpPr/>
          <p:nvPr/>
        </p:nvSpPr>
        <p:spPr>
          <a:xfrm>
            <a:off x="914400" y="1828800"/>
            <a:ext cx="1033236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600" spc="-1" strike="noStrike">
                <a:solidFill>
                  <a:srgbClr val="1a1d2e"/>
                </a:solidFill>
                <a:latin typeface="Calibri"/>
              </a:rPr>
              <a:t>Thank You!</a:t>
            </a:r>
            <a:endParaRPr b="0" lang="en-PH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Box 4"/>
          <p:cNvSpPr/>
          <p:nvPr/>
        </p:nvSpPr>
        <p:spPr>
          <a:xfrm>
            <a:off x="914400" y="3017520"/>
            <a:ext cx="10332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1" strike="noStrike">
                <a:solidFill>
                  <a:srgbClr val="266ef1"/>
                </a:solidFill>
                <a:latin typeface="Calibri"/>
              </a:rPr>
              <a:t>Questions?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Rectangle 5"/>
          <p:cNvSpPr/>
          <p:nvPr/>
        </p:nvSpPr>
        <p:spPr>
          <a:xfrm>
            <a:off x="731520" y="3931920"/>
            <a:ext cx="10698120" cy="37800"/>
          </a:xfrm>
          <a:prstGeom prst="rect">
            <a:avLst/>
          </a:prstGeom>
          <a:solidFill>
            <a:srgbClr val="266e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5" name="TextBox 6"/>
          <p:cNvSpPr/>
          <p:nvPr/>
        </p:nvSpPr>
        <p:spPr>
          <a:xfrm>
            <a:off x="914400" y="4389120"/>
            <a:ext cx="1033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3a3f4c"/>
                </a:solidFill>
                <a:latin typeface="Calibri"/>
              </a:rPr>
              <a:t>All code shown today is in the repo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Rounded Rectangle 7"/>
          <p:cNvSpPr/>
          <p:nvPr/>
        </p:nvSpPr>
        <p:spPr>
          <a:xfrm>
            <a:off x="3200400" y="5029200"/>
            <a:ext cx="5760360" cy="5025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82880" bIns="1828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e870"/>
                </a:solidFill>
                <a:latin typeface="Consolas"/>
              </a:rPr>
              <a:t>$ sysadmin-copilot   # try it yourself!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en-PH</dc:language>
  <cp:lastModifiedBy/>
  <dcterms:modified xsi:type="dcterms:W3CDTF">2026-04-02T09:43:19Z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